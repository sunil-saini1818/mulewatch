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B132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97" name="Rounded Rectangle 2"/>
          <p:cNvGrpSpPr/>
          <p:nvPr/>
        </p:nvGrpSpPr>
        <p:grpSpPr>
          <a:xfrm>
            <a:off x="731519" y="594359"/>
            <a:ext cx="5852161" cy="384049"/>
            <a:chOff x="0" y="0"/>
            <a:chExt cx="5852159" cy="384047"/>
          </a:xfrm>
        </p:grpSpPr>
        <p:sp>
          <p:nvSpPr>
            <p:cNvPr id="95" name="Rounded Rectangle"/>
            <p:cNvSpPr/>
            <p:nvPr/>
          </p:nvSpPr>
          <p:spPr>
            <a:xfrm>
              <a:off x="0" y="0"/>
              <a:ext cx="5852160" cy="384048"/>
            </a:xfrm>
            <a:prstGeom prst="roundRect">
              <a:avLst>
                <a:gd name="adj" fmla="val 16667"/>
              </a:avLst>
            </a:prstGeom>
            <a:solidFill>
              <a:srgbClr val="141E37"/>
            </a:solidFill>
            <a:ln w="15240" cap="flat">
              <a:solidFill>
                <a:srgbClr val="6366F1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1100">
                  <a:solidFill>
                    <a:srgbClr val="0EA5E9"/>
                  </a:solidFill>
                </a:defRPr>
              </a:pPr>
            </a:p>
          </p:txBody>
        </p:sp>
        <p:sp>
          <p:nvSpPr>
            <p:cNvPr id="96" name="⚡  IEEE IGNITE HACKATHON 2026  ·  HOST: SKIT JAIPUR"/>
            <p:cNvSpPr txBox="1"/>
            <p:nvPr/>
          </p:nvSpPr>
          <p:spPr>
            <a:xfrm>
              <a:off x="26367" y="77723"/>
              <a:ext cx="5799425" cy="228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100">
                  <a:solidFill>
                    <a:srgbClr val="0EA5E9"/>
                  </a:solidFill>
                </a:defRPr>
              </a:pPr>
              <a:r>
                <a:rPr>
                  <a:latin typeface="+mj-lt"/>
                  <a:ea typeface="+mj-ea"/>
                  <a:cs typeface="+mj-cs"/>
                  <a:sym typeface="Helvetica"/>
                </a:rPr>
                <a:t>⚡  </a:t>
              </a:r>
              <a:r>
                <a:t>IEEE IGNITE HACKATHON 2026  ·  HOST: SKIT JAIPUR</a:t>
              </a:r>
            </a:p>
          </p:txBody>
        </p:sp>
      </p:grpSp>
      <p:sp>
        <p:nvSpPr>
          <p:cNvPr id="98" name="TextBox 3"/>
          <p:cNvSpPr txBox="1"/>
          <p:nvPr/>
        </p:nvSpPr>
        <p:spPr>
          <a:xfrm>
            <a:off x="731519" y="1234439"/>
            <a:ext cx="10728657" cy="143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5000">
                <a:solidFill>
                  <a:srgbClr val="FFFFFF"/>
                </a:solidFill>
              </a:defRPr>
            </a:pPr>
            <a:r>
              <a:t>MuleWatch</a:t>
            </a:r>
          </a:p>
          <a:p>
            <a:pPr>
              <a:spcBef>
                <a:spcPts val="600"/>
              </a:spcBef>
              <a:defRPr b="1" sz="2000">
                <a:solidFill>
                  <a:srgbClr val="0EA5E9"/>
                </a:solidFill>
              </a:defRPr>
            </a:pPr>
            <a:r>
              <a:t>AI-Powered Detection of Suspicious Financial Advertisements &amp; Cyber Cell Dispatch System</a:t>
            </a:r>
          </a:p>
          <a:p>
            <a:pPr>
              <a:spcBef>
                <a:spcPts val="800"/>
              </a:spcBef>
              <a:defRPr sz="1300">
                <a:solidFill>
                  <a:srgbClr val="E2E8F0"/>
                </a:solidFill>
              </a:defRPr>
            </a:pPr>
            <a:r>
              <a:t>Proactive threat intelligence harvesting, multimodal OCR/QR forensics, localized district risk mapping, and tamper-proof police evidence generation.</a:t>
            </a:r>
          </a:p>
        </p:txBody>
      </p:sp>
      <p:grpSp>
        <p:nvGrpSpPr>
          <p:cNvPr id="101" name="Rounded Rectangle 4"/>
          <p:cNvGrpSpPr/>
          <p:nvPr/>
        </p:nvGrpSpPr>
        <p:grpSpPr>
          <a:xfrm>
            <a:off x="731519" y="3337559"/>
            <a:ext cx="3410713" cy="1783081"/>
            <a:chOff x="0" y="0"/>
            <a:chExt cx="3410711" cy="1783079"/>
          </a:xfrm>
        </p:grpSpPr>
        <p:sp>
          <p:nvSpPr>
            <p:cNvPr id="99" name="Rounded Rectangle"/>
            <p:cNvSpPr/>
            <p:nvPr/>
          </p:nvSpPr>
          <p:spPr>
            <a:xfrm>
              <a:off x="0" y="0"/>
              <a:ext cx="3410712" cy="1783080"/>
            </a:xfrm>
            <a:prstGeom prst="roundRect">
              <a:avLst>
                <a:gd name="adj" fmla="val 16667"/>
              </a:avLst>
            </a:prstGeom>
            <a:solidFill>
              <a:srgbClr val="141E37"/>
            </a:solidFill>
            <a:ln w="15240" cap="flat">
              <a:solidFill>
                <a:srgbClr val="2E4469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400"/>
                </a:spcBef>
                <a:defRPr sz="1100">
                  <a:solidFill>
                    <a:srgbClr val="E2E8F0"/>
                  </a:solidFill>
                </a:defRPr>
              </a:pPr>
            </a:p>
          </p:txBody>
        </p:sp>
        <p:sp>
          <p:nvSpPr>
            <p:cNvPr id="100" name="HACKATHON CHALLENGE…"/>
            <p:cNvSpPr txBox="1"/>
            <p:nvPr/>
          </p:nvSpPr>
          <p:spPr>
            <a:xfrm>
              <a:off x="94662" y="286687"/>
              <a:ext cx="3221388" cy="12097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01168" tIns="201168" rIns="201168" bIns="201168" numCol="1" anchor="ctr">
              <a:spAutoFit/>
            </a:bodyPr>
            <a:lstStyle/>
            <a:p>
              <a:pPr algn="ctr">
                <a:defRPr b="1" sz="1000">
                  <a:solidFill>
                    <a:srgbClr val="0EA5E9"/>
                  </a:solidFill>
                </a:defRPr>
              </a:pPr>
              <a:r>
                <a:t>HACKATHON CHALLENGE</a:t>
              </a:r>
            </a:p>
            <a:p>
              <a:pPr>
                <a:defRPr b="1">
                  <a:solidFill>
                    <a:srgbClr val="FFFFFF"/>
                  </a:solidFill>
                </a:defRPr>
              </a:pPr>
              <a:r>
                <a:t>Problem ID: SKIT002</a:t>
              </a:r>
            </a:p>
            <a:p>
              <a:pPr>
                <a:spcBef>
                  <a:spcPts val="400"/>
                </a:spcBef>
                <a:defRPr sz="1100">
                  <a:solidFill>
                    <a:srgbClr val="E2E8F0"/>
                  </a:solidFill>
                </a:defRPr>
              </a:pPr>
              <a:r>
                <a:t>Theme: AI Detection of Suspicious Financial Ads &amp; Mule Syndicates</a:t>
              </a:r>
            </a:p>
          </p:txBody>
        </p:sp>
      </p:grpSp>
      <p:grpSp>
        <p:nvGrpSpPr>
          <p:cNvPr id="104" name="Rounded Rectangle 5"/>
          <p:cNvGrpSpPr/>
          <p:nvPr/>
        </p:nvGrpSpPr>
        <p:grpSpPr>
          <a:xfrm>
            <a:off x="4389120" y="3337559"/>
            <a:ext cx="3410713" cy="1783081"/>
            <a:chOff x="0" y="0"/>
            <a:chExt cx="3410711" cy="1783079"/>
          </a:xfrm>
        </p:grpSpPr>
        <p:sp>
          <p:nvSpPr>
            <p:cNvPr id="102" name="Rounded Rectangle"/>
            <p:cNvSpPr/>
            <p:nvPr/>
          </p:nvSpPr>
          <p:spPr>
            <a:xfrm>
              <a:off x="0" y="0"/>
              <a:ext cx="3410712" cy="1783080"/>
            </a:xfrm>
            <a:prstGeom prst="roundRect">
              <a:avLst>
                <a:gd name="adj" fmla="val 16667"/>
              </a:avLst>
            </a:prstGeom>
            <a:solidFill>
              <a:srgbClr val="141E37"/>
            </a:solidFill>
            <a:ln w="15240" cap="flat">
              <a:solidFill>
                <a:srgbClr val="2E4469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400"/>
                </a:spcBef>
                <a:defRPr sz="1100">
                  <a:solidFill>
                    <a:srgbClr val="E2E8F0"/>
                  </a:solidFill>
                </a:defRPr>
              </a:pPr>
            </a:p>
          </p:txBody>
        </p:sp>
        <p:sp>
          <p:nvSpPr>
            <p:cNvPr id="103" name="DEVELOPMENT TEAM…"/>
            <p:cNvSpPr txBox="1"/>
            <p:nvPr/>
          </p:nvSpPr>
          <p:spPr>
            <a:xfrm>
              <a:off x="94662" y="286687"/>
              <a:ext cx="3221388" cy="12097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01168" tIns="201168" rIns="201168" bIns="201168" numCol="1" anchor="ctr">
              <a:spAutoFit/>
            </a:bodyPr>
            <a:lstStyle/>
            <a:p>
              <a:pPr algn="ctr">
                <a:defRPr b="1" sz="1000">
                  <a:solidFill>
                    <a:srgbClr val="6366F1"/>
                  </a:solidFill>
                </a:defRPr>
              </a:pPr>
              <a:r>
                <a:t>DEVELOPMENT TEAM</a:t>
              </a:r>
            </a:p>
            <a:p>
              <a:pPr>
                <a:defRPr b="1">
                  <a:solidFill>
                    <a:srgbClr val="FFFFFF"/>
                  </a:solidFill>
                </a:defRPr>
              </a:pPr>
              <a:r>
                <a:t>Team: capycoders</a:t>
              </a:r>
            </a:p>
            <a:p>
              <a:pPr>
                <a:spcBef>
                  <a:spcPts val="400"/>
                </a:spcBef>
                <a:defRPr sz="1100">
                  <a:solidFill>
                    <a:srgbClr val="E2E8F0"/>
                  </a:solidFill>
                </a:defRPr>
              </a:pPr>
              <a:r>
                <a:t>Focus: Full-Stack AI, Computer Vision, Digital Forensics &amp; Cyber Defense</a:t>
              </a:r>
            </a:p>
          </p:txBody>
        </p:sp>
      </p:grpSp>
      <p:grpSp>
        <p:nvGrpSpPr>
          <p:cNvPr id="107" name="Rounded Rectangle 6"/>
          <p:cNvGrpSpPr/>
          <p:nvPr/>
        </p:nvGrpSpPr>
        <p:grpSpPr>
          <a:xfrm>
            <a:off x="8046719" y="3337559"/>
            <a:ext cx="3410713" cy="1783081"/>
            <a:chOff x="0" y="0"/>
            <a:chExt cx="3410711" cy="1783079"/>
          </a:xfrm>
        </p:grpSpPr>
        <p:sp>
          <p:nvSpPr>
            <p:cNvPr id="105" name="Rounded Rectangle"/>
            <p:cNvSpPr/>
            <p:nvPr/>
          </p:nvSpPr>
          <p:spPr>
            <a:xfrm>
              <a:off x="0" y="0"/>
              <a:ext cx="3410712" cy="1783080"/>
            </a:xfrm>
            <a:prstGeom prst="roundRect">
              <a:avLst>
                <a:gd name="adj" fmla="val 16667"/>
              </a:avLst>
            </a:prstGeom>
            <a:solidFill>
              <a:srgbClr val="141E37"/>
            </a:solidFill>
            <a:ln w="15240" cap="flat">
              <a:solidFill>
                <a:srgbClr val="2E4469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400"/>
                </a:spcBef>
                <a:defRPr sz="1100">
                  <a:solidFill>
                    <a:srgbClr val="E2E8F0"/>
                  </a:solidFill>
                </a:defRPr>
              </a:pPr>
            </a:p>
          </p:txBody>
        </p:sp>
        <p:sp>
          <p:nvSpPr>
            <p:cNvPr id="106" name="HOST INSTITUTION…"/>
            <p:cNvSpPr txBox="1"/>
            <p:nvPr/>
          </p:nvSpPr>
          <p:spPr>
            <a:xfrm>
              <a:off x="94662" y="286687"/>
              <a:ext cx="3221388" cy="12097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01168" tIns="201168" rIns="201168" bIns="201168" numCol="1" anchor="ctr">
              <a:spAutoFit/>
            </a:bodyPr>
            <a:lstStyle/>
            <a:p>
              <a:pPr algn="ctr">
                <a:defRPr b="1" sz="1000">
                  <a:solidFill>
                    <a:srgbClr val="10B981"/>
                  </a:solidFill>
                </a:defRPr>
              </a:pPr>
              <a:r>
                <a:t>HOST INSTITUTION</a:t>
              </a:r>
            </a:p>
            <a:p>
              <a:pPr>
                <a:defRPr b="1">
                  <a:solidFill>
                    <a:srgbClr val="FFFFFF"/>
                  </a:solidFill>
                </a:defRPr>
              </a:pPr>
              <a:r>
                <a:t>SKIT Jaipur</a:t>
              </a:r>
            </a:p>
            <a:p>
              <a:pPr>
                <a:spcBef>
                  <a:spcPts val="400"/>
                </a:spcBef>
                <a:defRPr sz="1100">
                  <a:solidFill>
                    <a:srgbClr val="E2E8F0"/>
                  </a:solidFill>
                </a:defRPr>
              </a:pPr>
              <a:r>
                <a:t>Swami Keshvanand Institute of Technology, Management &amp; Gramothan</a:t>
              </a:r>
            </a:p>
          </p:txBody>
        </p:sp>
      </p:grpSp>
      <p:grpSp>
        <p:nvGrpSpPr>
          <p:cNvPr id="110" name="Rounded Rectangle 7"/>
          <p:cNvGrpSpPr/>
          <p:nvPr/>
        </p:nvGrpSpPr>
        <p:grpSpPr>
          <a:xfrm>
            <a:off x="731519" y="5349240"/>
            <a:ext cx="10728657" cy="685801"/>
            <a:chOff x="0" y="0"/>
            <a:chExt cx="10728655" cy="685800"/>
          </a:xfrm>
        </p:grpSpPr>
        <p:sp>
          <p:nvSpPr>
            <p:cNvPr id="108" name="Rounded Rectangle"/>
            <p:cNvSpPr/>
            <p:nvPr/>
          </p:nvSpPr>
          <p:spPr>
            <a:xfrm>
              <a:off x="0" y="0"/>
              <a:ext cx="10728656" cy="685800"/>
            </a:xfrm>
            <a:prstGeom prst="roundRect">
              <a:avLst>
                <a:gd name="adj" fmla="val 16667"/>
              </a:avLst>
            </a:prstGeom>
            <a:solidFill>
              <a:srgbClr val="141E37"/>
            </a:solidFill>
            <a:ln w="1905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9" name="PUBLIC GITHUB REPOSITORY: https://github.com/Sunil-saini1818/MuleWatch  [Production-Ready Fullstack Codebase · Complete Verified Commits]"/>
            <p:cNvSpPr txBox="1"/>
            <p:nvPr/>
          </p:nvSpPr>
          <p:spPr>
            <a:xfrm>
              <a:off x="271603" y="250751"/>
              <a:ext cx="10368330" cy="2483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b="1" sz="1200">
                  <a:solidFill>
                    <a:srgbClr val="0EA5E9"/>
                  </a:solidFill>
                </a:defRPr>
              </a:pPr>
              <a:r>
                <a:t>PUBLIC GITHUB REPOSITORY: </a:t>
              </a:r>
              <a:r>
                <a:rPr>
                  <a:solidFill>
                    <a:srgbClr val="FFFFFF"/>
                  </a:solidFill>
                </a:rPr>
                <a:t>https://github.com/Sunil-saini1818/MuleWatch  </a:t>
              </a:r>
              <a:r>
                <a:rPr b="0" sz="1100">
                  <a:solidFill>
                    <a:srgbClr val="10B981"/>
                  </a:solidFill>
                </a:rPr>
                <a:t>[Production-Ready Fullstack Codebase · Complete Verified Commits]</a:t>
              </a:r>
            </a:p>
          </p:txBody>
        </p:sp>
      </p:grpSp>
      <p:sp>
        <p:nvSpPr>
          <p:cNvPr id="111" name="TextBox 8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1 of 10</a:t>
            </a:r>
          </a:p>
        </p:txBody>
      </p:sp>
      <p:sp>
        <p:nvSpPr>
          <p:cNvPr id="112" name="TextBox 9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0EA5E9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17" name="Rounded Rectangle 2"/>
          <p:cNvGrpSpPr/>
          <p:nvPr/>
        </p:nvGrpSpPr>
        <p:grpSpPr>
          <a:xfrm>
            <a:off x="3528885" y="194370"/>
            <a:ext cx="5257496" cy="368026"/>
            <a:chOff x="0" y="0"/>
            <a:chExt cx="5257494" cy="368024"/>
          </a:xfrm>
        </p:grpSpPr>
        <p:sp>
          <p:nvSpPr>
            <p:cNvPr id="115" name="Rounded Rectangle"/>
            <p:cNvSpPr/>
            <p:nvPr/>
          </p:nvSpPr>
          <p:spPr>
            <a:xfrm>
              <a:off x="0" y="0"/>
              <a:ext cx="5257495" cy="368025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116" name="PROBLEM ANALYSIS · THE THREAT LANDSCAPE"/>
            <p:cNvSpPr txBox="1"/>
            <p:nvPr/>
          </p:nvSpPr>
          <p:spPr>
            <a:xfrm>
              <a:off x="26727" y="110991"/>
              <a:ext cx="5204041" cy="1460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algn="ctr">
                <a:defRPr b="1" sz="1100">
                  <a:solidFill>
                    <a:srgbClr val="4F46E5"/>
                  </a:solidFill>
                </a:defRPr>
              </a:lvl1pPr>
            </a:lstStyle>
            <a:p>
              <a:pPr/>
              <a:r>
                <a:t>  PROBLEM ANALYSIS · THE THREAT LANDSCAPE  </a:t>
              </a:r>
            </a:p>
          </p:txBody>
        </p:sp>
      </p:grpSp>
      <p:sp>
        <p:nvSpPr>
          <p:cNvPr id="118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The Silent Epidemic of Digital Mule Account Syndicates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How organized financial cybercriminals exploit open communication channels and outpace manual policing</a:t>
            </a:r>
          </a:p>
        </p:txBody>
      </p:sp>
      <p:sp>
        <p:nvSpPr>
          <p:cNvPr id="119" name="Rounded Rectangle 4"/>
          <p:cNvSpPr/>
          <p:nvPr/>
        </p:nvSpPr>
        <p:spPr>
          <a:xfrm>
            <a:off x="731519" y="1691639"/>
            <a:ext cx="5212081" cy="329184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6"/>
          <p:cNvSpPr txBox="1"/>
          <p:nvPr/>
        </p:nvSpPr>
        <p:spPr>
          <a:xfrm>
            <a:off x="950975" y="1874520"/>
            <a:ext cx="4773169" cy="269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DC2626"/>
                </a:solidFill>
              </a:defRPr>
            </a:pPr>
            <a:r>
              <a:t>EMERGING THREAT VECTOR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The Underground Syndicate Model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Proliferation of Social Adverts: </a:t>
            </a:r>
            <a:r>
              <a:rPr b="0" sz="1100">
                <a:solidFill>
                  <a:srgbClr val="334155"/>
                </a:solidFill>
              </a:rPr>
              <a:t>Fraud rings openly advertise on Telegram, WhatsApp, Facebook, and forums offering cash for 'unused' bank accounts and UPI IDs.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Commercialized Money Laundering: </a:t>
            </a:r>
            <a:r>
              <a:rPr b="0" sz="1100">
                <a:solidFill>
                  <a:srgbClr val="334155"/>
                </a:solidFill>
              </a:rPr>
              <a:t>Accounts are leased at 5% to 15% commission or purchased outright to layer proceeds from investment, gaming, and loan scams.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Ultra-Rapid Churning &amp; Evasion: </a:t>
            </a:r>
            <a:r>
              <a:rPr b="0" sz="1100">
                <a:solidFill>
                  <a:srgbClr val="334155"/>
                </a:solidFill>
              </a:rPr>
              <a:t>Syndicates discard channels, burn SIMs, and cycle UPI QR codes within hours of laundering dirty funds.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Vulnerable Demographics Target: </a:t>
            </a:r>
            <a:r>
              <a:rPr b="0" sz="1100">
                <a:solidFill>
                  <a:srgbClr val="334155"/>
                </a:solidFill>
              </a:rPr>
              <a:t>Students and unemployed youths are enticed by 'easy work-from-home' earnings, unknowingly becoming criminal accomplices.</a:t>
            </a:r>
          </a:p>
        </p:txBody>
      </p:sp>
      <p:sp>
        <p:nvSpPr>
          <p:cNvPr id="121" name="Rounded Rectangle 7"/>
          <p:cNvSpPr/>
          <p:nvPr/>
        </p:nvSpPr>
        <p:spPr>
          <a:xfrm>
            <a:off x="6217920" y="1691639"/>
            <a:ext cx="5242255" cy="329184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9"/>
          <p:cNvSpPr txBox="1"/>
          <p:nvPr/>
        </p:nvSpPr>
        <p:spPr>
          <a:xfrm>
            <a:off x="6437376" y="1874520"/>
            <a:ext cx="4803344" cy="2369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4F46E5"/>
                </a:solidFill>
              </a:defRPr>
            </a:pPr>
            <a:r>
              <a:t>OPERATIONAL DEFICIENCY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Existing Law Enforcement Bottlenecks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Manual &amp; Fragmented Monitoring: </a:t>
            </a:r>
            <a:r>
              <a:rPr b="0" sz="1100">
                <a:solidFill>
                  <a:srgbClr val="334155"/>
                </a:solidFill>
              </a:rPr>
              <a:t>Police personnel manually monitor social media—a reactive, unsustainable strategy facing millions of posts daily.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Multimodal Obfuscation: </a:t>
            </a:r>
            <a:r>
              <a:rPr b="0" sz="1100">
                <a:solidFill>
                  <a:srgbClr val="334155"/>
                </a:solidFill>
              </a:rPr>
              <a:t>Fraudsters conceal UPI handles and bank details inside image banners and QR codes, completely evading keyword text filters.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48–72 Hour Critical Triage Lag: </a:t>
            </a:r>
            <a:r>
              <a:rPr b="0" sz="1100">
                <a:solidFill>
                  <a:srgbClr val="334155"/>
                </a:solidFill>
              </a:rPr>
              <a:t>By the time a complaint is registered, mule accounts have dispersed funds across multiple layered banking layers.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Lack of Court-Admissible Evidence: </a:t>
            </a:r>
            <a:r>
              <a:rPr b="0" sz="1100">
                <a:solidFill>
                  <a:srgbClr val="334155"/>
                </a:solidFill>
              </a:rPr>
              <a:t>Raw phone screenshots lack cryptographic timestamps, origin IP metadata, and tamper-proof SHA-256 digital hashes required for FIRs.</a:t>
            </a:r>
          </a:p>
        </p:txBody>
      </p:sp>
      <p:sp>
        <p:nvSpPr>
          <p:cNvPr id="123" name="Rounded Rectangle 10"/>
          <p:cNvSpPr/>
          <p:nvPr/>
        </p:nvSpPr>
        <p:spPr>
          <a:xfrm>
            <a:off x="731519" y="5138928"/>
            <a:ext cx="2542034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TextBox 12"/>
          <p:cNvSpPr txBox="1"/>
          <p:nvPr/>
        </p:nvSpPr>
        <p:spPr>
          <a:xfrm>
            <a:off x="841247" y="5248655"/>
            <a:ext cx="2322578" cy="50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DC2626"/>
                </a:solidFill>
              </a:defRPr>
            </a:pPr>
            <a:r>
              <a:t>STAGE 1: ADVERTISING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Social Ads recruiting 'mules' on Telegram/Forums</a:t>
            </a:r>
          </a:p>
        </p:txBody>
      </p:sp>
      <p:sp>
        <p:nvSpPr>
          <p:cNvPr id="125" name="Rounded Rectangle 13"/>
          <p:cNvSpPr/>
          <p:nvPr/>
        </p:nvSpPr>
        <p:spPr>
          <a:xfrm>
            <a:off x="3456432" y="5138928"/>
            <a:ext cx="2542033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5"/>
          <p:cNvSpPr txBox="1"/>
          <p:nvPr/>
        </p:nvSpPr>
        <p:spPr>
          <a:xfrm>
            <a:off x="3566159" y="5248655"/>
            <a:ext cx="2322577" cy="50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STAGE 2: ONBOARDING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KYC docs, ATM cards &amp; UPI leased for 10% cut</a:t>
            </a:r>
          </a:p>
        </p:txBody>
      </p:sp>
      <p:sp>
        <p:nvSpPr>
          <p:cNvPr id="127" name="Rounded Rectangle 16"/>
          <p:cNvSpPr/>
          <p:nvPr/>
        </p:nvSpPr>
        <p:spPr>
          <a:xfrm>
            <a:off x="6181344" y="5138928"/>
            <a:ext cx="2542033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18"/>
          <p:cNvSpPr txBox="1"/>
          <p:nvPr/>
        </p:nvSpPr>
        <p:spPr>
          <a:xfrm>
            <a:off x="6291071" y="5248655"/>
            <a:ext cx="2322577" cy="50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6366F1"/>
                </a:solidFill>
              </a:defRPr>
            </a:pPr>
            <a:r>
              <a:t>STAGE 3: LAUNDERING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Dirty funds injected &amp; instantly split across accounts</a:t>
            </a:r>
          </a:p>
        </p:txBody>
      </p:sp>
      <p:sp>
        <p:nvSpPr>
          <p:cNvPr id="129" name="Rounded Rectangle 19"/>
          <p:cNvSpPr/>
          <p:nvPr/>
        </p:nvSpPr>
        <p:spPr>
          <a:xfrm>
            <a:off x="8906256" y="5138928"/>
            <a:ext cx="2542033" cy="1097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21"/>
          <p:cNvSpPr txBox="1"/>
          <p:nvPr/>
        </p:nvSpPr>
        <p:spPr>
          <a:xfrm>
            <a:off x="9015983" y="5248655"/>
            <a:ext cx="2322577" cy="50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0B132B"/>
                </a:solidFill>
              </a:defRPr>
            </a:pPr>
            <a:r>
              <a:t>STAGE 4: ATTRITION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Rapid ATM cash-out; victims left with frozen assets</a:t>
            </a:r>
          </a:p>
        </p:txBody>
      </p:sp>
      <p:sp>
        <p:nvSpPr>
          <p:cNvPr id="131" name="TextBox 22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2 of 10</a:t>
            </a:r>
          </a:p>
        </p:txBody>
      </p:sp>
      <p:sp>
        <p:nvSpPr>
          <p:cNvPr id="132" name="TextBox 23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37" name="Rounded Rectangle 2"/>
          <p:cNvGrpSpPr/>
          <p:nvPr/>
        </p:nvGrpSpPr>
        <p:grpSpPr>
          <a:xfrm>
            <a:off x="2696144" y="124444"/>
            <a:ext cx="6323556" cy="442650"/>
            <a:chOff x="0" y="0"/>
            <a:chExt cx="6323555" cy="442648"/>
          </a:xfrm>
        </p:grpSpPr>
        <p:sp>
          <p:nvSpPr>
            <p:cNvPr id="135" name="Rounded Rectangle"/>
            <p:cNvSpPr/>
            <p:nvPr/>
          </p:nvSpPr>
          <p:spPr>
            <a:xfrm>
              <a:off x="0" y="0"/>
              <a:ext cx="6323556" cy="442649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136" name="SYSTEM SOLUTION · EXECUTIVE OVERVIEW"/>
            <p:cNvSpPr txBox="1"/>
            <p:nvPr/>
          </p:nvSpPr>
          <p:spPr>
            <a:xfrm>
              <a:off x="32147" y="133497"/>
              <a:ext cx="6259262" cy="175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algn="ctr">
                <a:defRPr b="1" sz="1100">
                  <a:solidFill>
                    <a:srgbClr val="4F46E5"/>
                  </a:solidFill>
                </a:defRPr>
              </a:lvl1pPr>
            </a:lstStyle>
            <a:p>
              <a:pPr/>
              <a:r>
                <a:t>  SYSTEM SOLUTION · EXECUTIVE OVERVIEW  </a:t>
              </a:r>
            </a:p>
          </p:txBody>
        </p:sp>
      </p:grpSp>
      <p:sp>
        <p:nvSpPr>
          <p:cNvPr id="138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MuleWatch: Autonomous Threat Intelligence to Cyber Interdiction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An integrated fullstack platform bridging continuous threat crawling, multimodal AI, and rapid cyber cell dispatch</a:t>
            </a:r>
          </a:p>
        </p:txBody>
      </p:sp>
      <p:sp>
        <p:nvSpPr>
          <p:cNvPr id="139" name="Rounded Rectangle 4"/>
          <p:cNvSpPr/>
          <p:nvPr/>
        </p:nvSpPr>
        <p:spPr>
          <a:xfrm>
            <a:off x="731519" y="1691639"/>
            <a:ext cx="493776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6"/>
          <p:cNvSpPr txBox="1"/>
          <p:nvPr/>
        </p:nvSpPr>
        <p:spPr>
          <a:xfrm>
            <a:off x="964983" y="2175774"/>
            <a:ext cx="4498849" cy="2864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4F46E5"/>
                </a:solidFill>
              </a:defRPr>
            </a:pPr>
            <a:r>
              <a:t>END-TO-END CYBER DEFENSE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Key Capabilities &amp; Architecture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Autonomous Multichannel Harvesting: </a:t>
            </a:r>
            <a:r>
              <a:rPr b="0" sz="1100">
                <a:solidFill>
                  <a:srgbClr val="334155"/>
                </a:solidFill>
              </a:rPr>
              <a:t>Continuous background ingestion workers monitor Telegram underground groups, discussion forums (Charcha), and public social streams.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Multimodal Entity Extraction: </a:t>
            </a:r>
            <a:r>
              <a:rPr b="0" sz="1100">
                <a:solidFill>
                  <a:srgbClr val="334155"/>
                </a:solidFill>
              </a:rPr>
              <a:t>Combines high-accuracy Tesseract OCR with OpenCV QR decoding to extract masked bank numbers, UPI handles, and payment links.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Dynamic Heuristic Risk Scoring: </a:t>
            </a:r>
            <a:r>
              <a:rPr b="0" sz="1100">
                <a:solidFill>
                  <a:srgbClr val="334155"/>
                </a:solidFill>
              </a:rPr>
              <a:t>NLP threat categorization instantly scores posts (0-100%) against urgency triggers, commission bait, and illicit financial keywords.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Rapid Cyber Cell Dispatch: </a:t>
            </a:r>
            <a:r>
              <a:rPr b="0" sz="1100">
                <a:solidFill>
                  <a:srgbClr val="334155"/>
                </a:solidFill>
              </a:rPr>
              <a:t>One-click generation of court-admissible PDF dossiers with SHA-256 tamper-proof hashes and direct dispatch to bank nodal officers.</a:t>
            </a:r>
          </a:p>
        </p:txBody>
      </p:sp>
      <p:sp>
        <p:nvSpPr>
          <p:cNvPr id="141" name="Rounded Rectangle 7"/>
          <p:cNvSpPr/>
          <p:nvPr/>
        </p:nvSpPr>
        <p:spPr>
          <a:xfrm>
            <a:off x="5852159" y="1691639"/>
            <a:ext cx="5608016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42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61888" y="1801367"/>
            <a:ext cx="5388560" cy="3913633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TextBox 9"/>
          <p:cNvSpPr txBox="1"/>
          <p:nvPr/>
        </p:nvSpPr>
        <p:spPr>
          <a:xfrm>
            <a:off x="5961888" y="5788152"/>
            <a:ext cx="538856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📷 </a:t>
            </a:r>
            <a:r>
              <a:t>Figure 1: MuleWatch Real-Time Command Center &amp; Threat Stream</a:t>
            </a:r>
          </a:p>
        </p:txBody>
      </p:sp>
      <p:sp>
        <p:nvSpPr>
          <p:cNvPr id="144" name="TextBox 10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3 of 10</a:t>
            </a:r>
          </a:p>
        </p:txBody>
      </p:sp>
      <p:sp>
        <p:nvSpPr>
          <p:cNvPr id="145" name="TextBox 11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50" name="Rounded Rectangle 2"/>
          <p:cNvGrpSpPr/>
          <p:nvPr/>
        </p:nvGrpSpPr>
        <p:grpSpPr>
          <a:xfrm>
            <a:off x="3328049" y="164380"/>
            <a:ext cx="5294600" cy="370623"/>
            <a:chOff x="0" y="0"/>
            <a:chExt cx="5294599" cy="370621"/>
          </a:xfrm>
        </p:grpSpPr>
        <p:sp>
          <p:nvSpPr>
            <p:cNvPr id="148" name="Rounded Rectangle"/>
            <p:cNvSpPr/>
            <p:nvPr/>
          </p:nvSpPr>
          <p:spPr>
            <a:xfrm>
              <a:off x="0" y="0"/>
              <a:ext cx="5294600" cy="370622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149" name="SYSTEM ARCHITECTURE · TECHNOLOGY STACK"/>
            <p:cNvSpPr txBox="1"/>
            <p:nvPr/>
          </p:nvSpPr>
          <p:spPr>
            <a:xfrm>
              <a:off x="26916" y="111774"/>
              <a:ext cx="5240768" cy="1470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  <a:r>
                <a:t> </a:t>
              </a:r>
              <a:r>
                <a:rPr sz="1100"/>
                <a:t> SYSTEM ARCHITECTURE · TECHNOLOGY STACK  </a:t>
              </a:r>
            </a:p>
          </p:txBody>
        </p:sp>
      </p:grpSp>
      <p:sp>
        <p:nvSpPr>
          <p:cNvPr id="151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Production-Grade, Modular &amp; Resilient Fullstack Stack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Engineered for high-concurrency ingestion, asynchronous processing, and zero-compromise digital forensics</a:t>
            </a:r>
          </a:p>
        </p:txBody>
      </p:sp>
      <p:sp>
        <p:nvSpPr>
          <p:cNvPr id="152" name="Rounded Rectangle 4"/>
          <p:cNvSpPr/>
          <p:nvPr/>
        </p:nvSpPr>
        <p:spPr>
          <a:xfrm>
            <a:off x="731519" y="1691639"/>
            <a:ext cx="342900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3" name="TextBox 6"/>
          <p:cNvSpPr txBox="1"/>
          <p:nvPr/>
        </p:nvSpPr>
        <p:spPr>
          <a:xfrm>
            <a:off x="950975" y="1874520"/>
            <a:ext cx="2990089" cy="28647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4F46E5"/>
                </a:solidFill>
              </a:defRPr>
            </a:pPr>
            <a:r>
              <a:t>CLIENT PRESENTATION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Frontend Experience Layer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React 18 &amp; Vite: </a:t>
            </a:r>
            <a:r>
              <a:rPr b="0" sz="1100">
                <a:solidFill>
                  <a:srgbClr val="334155"/>
                </a:solidFill>
              </a:rPr>
              <a:t>Lightning-fast reactive UI with hot module replacement and optimized production bundle.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Tailwind CSS &amp; Lucide Icons: </a:t>
            </a:r>
            <a:r>
              <a:rPr b="0" sz="1100">
                <a:solidFill>
                  <a:srgbClr val="334155"/>
                </a:solidFill>
              </a:rPr>
              <a:t>Ergonomic, modern cyber operations center aesthetic with high-contrast data visualization.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Gapless TopoJSON Vector Map: </a:t>
            </a:r>
            <a:r>
              <a:rPr b="0" sz="1100">
                <a:solidFill>
                  <a:srgbClr val="334155"/>
                </a:solidFill>
              </a:rPr>
              <a:t>Custom-rendered SVG district map of Rajasthan with zero-gap borders and hover state binding.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Dynamic Polling Telemetry: </a:t>
            </a:r>
            <a:r>
              <a:rPr b="0" sz="1100">
                <a:solidFill>
                  <a:srgbClr val="334155"/>
                </a:solidFill>
              </a:rPr>
              <a:t>Self-healing telemetry hooks polling live crawler status, alert counts, and actor networks.</a:t>
            </a:r>
          </a:p>
        </p:txBody>
      </p:sp>
      <p:sp>
        <p:nvSpPr>
          <p:cNvPr id="154" name="Rounded Rectangle 7"/>
          <p:cNvSpPr/>
          <p:nvPr/>
        </p:nvSpPr>
        <p:spPr>
          <a:xfrm>
            <a:off x="4370832" y="1691639"/>
            <a:ext cx="342900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5" name="TextBox 9"/>
          <p:cNvSpPr txBox="1"/>
          <p:nvPr/>
        </p:nvSpPr>
        <p:spPr>
          <a:xfrm>
            <a:off x="4590288" y="1874520"/>
            <a:ext cx="2990089" cy="28647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0B132B"/>
                </a:solidFill>
              </a:defRPr>
            </a:pPr>
            <a:r>
              <a:t>MICROSERVICE ENGINE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Backend &amp; Intelligence Core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FastAPI &amp; Python 3.12: </a:t>
            </a:r>
            <a:r>
              <a:rPr b="0" sz="1100">
                <a:solidFill>
                  <a:srgbClr val="334155"/>
                </a:solidFill>
              </a:rPr>
              <a:t>Asynchronous ASGI framework delivering ultra-low latency REST APIs and strict Pydantic models.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Computer Vision &amp; OCR: </a:t>
            </a:r>
            <a:r>
              <a:rPr b="0" sz="1100">
                <a:solidFill>
                  <a:srgbClr val="334155"/>
                </a:solidFill>
              </a:rPr>
              <a:t>Tesseract OCR with adaptive image binarization; PyZBar for instant UPI QR payload decoding.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Telethon MTProto Client: </a:t>
            </a:r>
            <a:r>
              <a:rPr b="0" sz="1100">
                <a:solidFill>
                  <a:srgbClr val="334155"/>
                </a:solidFill>
              </a:rPr>
              <a:t>Native Telegram API integration capable of real-time message stream harvesting.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SQLite WAL Database: </a:t>
            </a:r>
            <a:r>
              <a:rPr b="0" sz="1100">
                <a:solidFill>
                  <a:srgbClr val="334155"/>
                </a:solidFill>
              </a:rPr>
              <a:t>High-performance Write-Ahead Logging mode providing ACID transactions without heavy database overhead.</a:t>
            </a:r>
          </a:p>
        </p:txBody>
      </p:sp>
      <p:sp>
        <p:nvSpPr>
          <p:cNvPr id="156" name="Rounded Rectangle 10"/>
          <p:cNvSpPr/>
          <p:nvPr/>
        </p:nvSpPr>
        <p:spPr>
          <a:xfrm>
            <a:off x="8028430" y="1691639"/>
            <a:ext cx="342900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extBox 12"/>
          <p:cNvSpPr txBox="1"/>
          <p:nvPr/>
        </p:nvSpPr>
        <p:spPr>
          <a:xfrm>
            <a:off x="8247887" y="1874520"/>
            <a:ext cx="2990089" cy="28647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10B981"/>
                </a:solidFill>
              </a:defRPr>
            </a:pPr>
            <a:r>
              <a:t>FORENSIC INTEGRITY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Forensics &amp; Police Interdiction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SHA-256 Evidence Seals: </a:t>
            </a:r>
            <a:r>
              <a:rPr b="0" sz="1100">
                <a:solidFill>
                  <a:srgbClr val="334155"/>
                </a:solidFill>
              </a:rPr>
              <a:t>Cryptographic fingerprinting of raw ad screenshots and metadata to ensure Section 65B legal validity.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Automated PDF Dossiers: </a:t>
            </a:r>
            <a:r>
              <a:rPr b="0" sz="1100">
                <a:solidFill>
                  <a:srgbClr val="334155"/>
                </a:solidFill>
              </a:rPr>
              <a:t>ReportLab PDF engine compiling investigator-ready case reports complete with IP and user-agent data.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Reversible State Machine: </a:t>
            </a:r>
            <a:r>
              <a:rPr b="0" sz="1100">
                <a:solidFill>
                  <a:srgbClr val="334155"/>
                </a:solidFill>
              </a:rPr>
              <a:t>Enforcement safety guardrail allowing investigators to confirm fraud or revert false positives seamlessly.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Unified Launcher (`./run.sh`): </a:t>
            </a:r>
            <a:r>
              <a:rPr b="0" sz="1100">
                <a:solidFill>
                  <a:srgbClr val="334155"/>
                </a:solidFill>
              </a:rPr>
              <a:t>One-click shell deployment bootstrapping backend, frontend, and simulated mock services concurrently.</a:t>
            </a:r>
          </a:p>
        </p:txBody>
      </p:sp>
      <p:sp>
        <p:nvSpPr>
          <p:cNvPr id="158" name="TextBox 13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4 of 10</a:t>
            </a:r>
          </a:p>
        </p:txBody>
      </p:sp>
      <p:sp>
        <p:nvSpPr>
          <p:cNvPr id="159" name="TextBox 14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64" name="Rounded Rectangle 2"/>
          <p:cNvGrpSpPr/>
          <p:nvPr/>
        </p:nvGrpSpPr>
        <p:grpSpPr>
          <a:xfrm>
            <a:off x="731519" y="347472"/>
            <a:ext cx="4572001" cy="320041"/>
            <a:chOff x="0" y="0"/>
            <a:chExt cx="4572000" cy="320040"/>
          </a:xfrm>
        </p:grpSpPr>
        <p:sp>
          <p:nvSpPr>
            <p:cNvPr id="162" name="Rounded Rectangle"/>
            <p:cNvSpPr/>
            <p:nvPr/>
          </p:nvSpPr>
          <p:spPr>
            <a:xfrm>
              <a:off x="0" y="0"/>
              <a:ext cx="4572000" cy="320041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163" name="CORE CAPABILITY 1 · INTELLIGENCE HARVESTING"/>
            <p:cNvSpPr txBox="1"/>
            <p:nvPr/>
          </p:nvSpPr>
          <p:spPr>
            <a:xfrm>
              <a:off x="23242" y="96520"/>
              <a:ext cx="4525515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900">
                  <a:solidFill>
                    <a:srgbClr val="4F46E5"/>
                  </a:solidFill>
                </a:defRPr>
              </a:lvl1pPr>
            </a:lstStyle>
            <a:p>
              <a:pPr/>
              <a:r>
                <a:t>  CORE CAPABILITY 1 · INTELLIGENCE HARVESTING  </a:t>
              </a:r>
            </a:p>
          </p:txBody>
        </p:sp>
      </p:grpSp>
      <p:sp>
        <p:nvSpPr>
          <p:cNvPr id="165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Autonomous Multi-Source Ingestion &amp; Crawler Telemetry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Proactively scanning underground Telegram channels, public discussion boards, and social threads</a:t>
            </a:r>
          </a:p>
        </p:txBody>
      </p:sp>
      <p:sp>
        <p:nvSpPr>
          <p:cNvPr id="166" name="Rounded Rectangle 4"/>
          <p:cNvSpPr/>
          <p:nvPr/>
        </p:nvSpPr>
        <p:spPr>
          <a:xfrm>
            <a:off x="731519" y="1691639"/>
            <a:ext cx="493776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7" name="TextBox 6"/>
          <p:cNvSpPr txBox="1"/>
          <p:nvPr/>
        </p:nvSpPr>
        <p:spPr>
          <a:xfrm>
            <a:off x="752489" y="2325800"/>
            <a:ext cx="4697335" cy="2534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4F46E5"/>
                </a:solidFill>
              </a:defRPr>
            </a:pPr>
            <a:r>
              <a:t>DATA INGESTION PIPELINE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Automated Ingestion Infrastructure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Telethon MTProto Ingestion: </a:t>
            </a:r>
            <a:r>
              <a:rPr b="0" sz="1100">
                <a:solidFill>
                  <a:srgbClr val="334155"/>
                </a:solidFill>
              </a:rPr>
              <a:t>Subscribes directly to suspect Telegram channels, capturing incoming messages, forwarded posts, and embedded image assets in real time.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Charcha Forum Scraper: </a:t>
            </a:r>
            <a:r>
              <a:rPr b="0" sz="1100">
                <a:solidFill>
                  <a:srgbClr val="334155"/>
                </a:solidFill>
              </a:rPr>
              <a:t>Dedicated resilient crawler with dynamic pagination, thread tracking, and deduplication for local underground discussion boards.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SimHash &amp; LSH Deduplication: </a:t>
            </a:r>
            <a:r>
              <a:rPr b="0" sz="1100">
                <a:solidFill>
                  <a:srgbClr val="334155"/>
                </a:solidFill>
              </a:rPr>
              <a:t>Locality-Sensitive Hashing identifies duplicate syndicated ads reposted across dozens of channels, consolidating threat records.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Live Crawler Health Telemetry: </a:t>
            </a:r>
            <a:r>
              <a:rPr b="0" sz="1100">
                <a:solidFill>
                  <a:srgbClr val="334155"/>
                </a:solidFill>
              </a:rPr>
              <a:t>Real-time heartbeat monitoring tracks active endpoints, fetch latencies, and total harvested records with automatic retry policies.</a:t>
            </a:r>
          </a:p>
        </p:txBody>
      </p:sp>
      <p:sp>
        <p:nvSpPr>
          <p:cNvPr id="168" name="Rounded Rectangle 7"/>
          <p:cNvSpPr/>
          <p:nvPr/>
        </p:nvSpPr>
        <p:spPr>
          <a:xfrm>
            <a:off x="5852159" y="1691639"/>
            <a:ext cx="5608016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69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61888" y="1801367"/>
            <a:ext cx="5388560" cy="3913633"/>
          </a:xfrm>
          <a:prstGeom prst="rect">
            <a:avLst/>
          </a:prstGeom>
          <a:ln w="12700">
            <a:miter lim="400000"/>
          </a:ln>
        </p:spPr>
      </p:pic>
      <p:sp>
        <p:nvSpPr>
          <p:cNvPr id="170" name="TextBox 9"/>
          <p:cNvSpPr txBox="1"/>
          <p:nvPr/>
        </p:nvSpPr>
        <p:spPr>
          <a:xfrm>
            <a:off x="5961888" y="5788152"/>
            <a:ext cx="538856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📷 </a:t>
            </a:r>
            <a:r>
              <a:t>Figure 2: Multi-Platform Ingestion Telemetry &amp; Health Monitoring</a:t>
            </a:r>
          </a:p>
        </p:txBody>
      </p:sp>
      <p:sp>
        <p:nvSpPr>
          <p:cNvPr id="171" name="TextBox 10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5 of 10</a:t>
            </a:r>
          </a:p>
        </p:txBody>
      </p:sp>
      <p:sp>
        <p:nvSpPr>
          <p:cNvPr id="172" name="TextBox 11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77" name="Rounded Rectangle 2"/>
          <p:cNvGrpSpPr/>
          <p:nvPr/>
        </p:nvGrpSpPr>
        <p:grpSpPr>
          <a:xfrm>
            <a:off x="731519" y="347472"/>
            <a:ext cx="4572001" cy="320041"/>
            <a:chOff x="0" y="0"/>
            <a:chExt cx="4572000" cy="320040"/>
          </a:xfrm>
        </p:grpSpPr>
        <p:sp>
          <p:nvSpPr>
            <p:cNvPr id="175" name="Rounded Rectangle"/>
            <p:cNvSpPr/>
            <p:nvPr/>
          </p:nvSpPr>
          <p:spPr>
            <a:xfrm>
              <a:off x="0" y="0"/>
              <a:ext cx="4572000" cy="320041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176" name="CORE CAPABILITY 2 · MULTIMODAL FORENSICS"/>
            <p:cNvSpPr txBox="1"/>
            <p:nvPr/>
          </p:nvSpPr>
          <p:spPr>
            <a:xfrm>
              <a:off x="23242" y="96520"/>
              <a:ext cx="4525515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900">
                  <a:solidFill>
                    <a:srgbClr val="4F46E5"/>
                  </a:solidFill>
                </a:defRPr>
              </a:lvl1pPr>
            </a:lstStyle>
            <a:p>
              <a:pPr/>
              <a:r>
                <a:t>  CORE CAPABILITY 2 · MULTIMODAL FORENSICS  </a:t>
              </a:r>
            </a:p>
          </p:txBody>
        </p:sp>
      </p:grpSp>
      <p:sp>
        <p:nvSpPr>
          <p:cNvPr id="178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Multimodal OCR, QR Code Decoding &amp; Entity Extraction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Exposing financial identifiers deliberately disguised within images, posters, and payment barcodes</a:t>
            </a:r>
          </a:p>
        </p:txBody>
      </p:sp>
      <p:sp>
        <p:nvSpPr>
          <p:cNvPr id="179" name="Rounded Rectangle 4"/>
          <p:cNvSpPr/>
          <p:nvPr/>
        </p:nvSpPr>
        <p:spPr>
          <a:xfrm>
            <a:off x="731519" y="1691639"/>
            <a:ext cx="493776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TextBox 6"/>
          <p:cNvSpPr txBox="1"/>
          <p:nvPr/>
        </p:nvSpPr>
        <p:spPr>
          <a:xfrm>
            <a:off x="788971" y="2161716"/>
            <a:ext cx="4850873" cy="2534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4F46E5"/>
                </a:solidFill>
              </a:defRPr>
            </a:pPr>
            <a:r>
              <a:t>MULTIMODAL INTELLIGENCE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Deep Visual Extraction Engine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Adaptive Image Pre-Processing: </a:t>
            </a:r>
            <a:r>
              <a:rPr b="0" sz="1100">
                <a:solidFill>
                  <a:srgbClr val="334155"/>
                </a:solidFill>
              </a:rPr>
              <a:t>Applies contrast stretching, adaptive thresholding, and noise reduction to overcome obfuscated fonts and low-resolution screenshots.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Tesseract OCR Entity Parsing: </a:t>
            </a:r>
            <a:r>
              <a:rPr b="0" sz="1100">
                <a:solidFill>
                  <a:srgbClr val="334155"/>
                </a:solidFill>
              </a:rPr>
              <a:t>Extracts masked bank names, IFSC codes, phone numbers, and commission percentages from graphic ad banners.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Instant UPI &amp; Crypto QR Decoding: </a:t>
            </a:r>
            <a:r>
              <a:rPr b="0" sz="1100">
                <a:solidFill>
                  <a:srgbClr val="334155"/>
                </a:solidFill>
              </a:rPr>
              <a:t>OpenCV and PyZBar decoder extracts raw `upi://pay?pa=...` merchant strings and crypto wallet addresses directly from payment graphics.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Interactive 'Check a Post' Hub: </a:t>
            </a:r>
            <a:r>
              <a:rPr b="0" sz="1100">
                <a:solidFill>
                  <a:srgbClr val="334155"/>
                </a:solidFill>
              </a:rPr>
              <a:t>Allows investigators to test suspicious URLs, paste raw text, or upload image screenshots for instantaneous risk analysis.</a:t>
            </a:r>
          </a:p>
        </p:txBody>
      </p:sp>
      <p:sp>
        <p:nvSpPr>
          <p:cNvPr id="181" name="Rounded Rectangle 7"/>
          <p:cNvSpPr/>
          <p:nvPr/>
        </p:nvSpPr>
        <p:spPr>
          <a:xfrm>
            <a:off x="5852159" y="1691639"/>
            <a:ext cx="5608016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82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61888" y="1801367"/>
            <a:ext cx="5388560" cy="3913633"/>
          </a:xfrm>
          <a:prstGeom prst="rect">
            <a:avLst/>
          </a:prstGeom>
          <a:ln w="12700">
            <a:miter lim="400000"/>
          </a:ln>
        </p:spPr>
      </p:pic>
      <p:sp>
        <p:nvSpPr>
          <p:cNvPr id="183" name="TextBox 9"/>
          <p:cNvSpPr txBox="1"/>
          <p:nvPr/>
        </p:nvSpPr>
        <p:spPr>
          <a:xfrm>
            <a:off x="5961888" y="5788152"/>
            <a:ext cx="538856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📷 </a:t>
            </a:r>
            <a:r>
              <a:t>Figure 3: Interactive Multimodal Analyzer with QR &amp; Entity Extraction</a:t>
            </a:r>
          </a:p>
        </p:txBody>
      </p:sp>
      <p:sp>
        <p:nvSpPr>
          <p:cNvPr id="184" name="TextBox 10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6 of 10</a:t>
            </a:r>
          </a:p>
        </p:txBody>
      </p:sp>
      <p:sp>
        <p:nvSpPr>
          <p:cNvPr id="185" name="TextBox 11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0" name="Rounded Rectangle 2"/>
          <p:cNvGrpSpPr/>
          <p:nvPr/>
        </p:nvGrpSpPr>
        <p:grpSpPr>
          <a:xfrm>
            <a:off x="2592379" y="103318"/>
            <a:ext cx="6215486" cy="435085"/>
            <a:chOff x="0" y="0"/>
            <a:chExt cx="6215484" cy="435083"/>
          </a:xfrm>
        </p:grpSpPr>
        <p:sp>
          <p:nvSpPr>
            <p:cNvPr id="188" name="Rounded Rectangle"/>
            <p:cNvSpPr/>
            <p:nvPr/>
          </p:nvSpPr>
          <p:spPr>
            <a:xfrm>
              <a:off x="0" y="0"/>
              <a:ext cx="6215485" cy="435084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189" name="CORE CAPABILITY 3 · GEOSPATIAL INTELLIGENCE"/>
            <p:cNvSpPr txBox="1"/>
            <p:nvPr/>
          </p:nvSpPr>
          <p:spPr>
            <a:xfrm>
              <a:off x="31597" y="131215"/>
              <a:ext cx="6152290" cy="1726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  <a:r>
                <a:t>  </a:t>
              </a:r>
              <a:r>
                <a:rPr sz="1100"/>
                <a:t>CORE CAPABILITY 3 · GEOSPATIAL INTELLIGENCE  </a:t>
              </a:r>
            </a:p>
          </p:txBody>
        </p:sp>
      </p:grpSp>
      <p:sp>
        <p:nvSpPr>
          <p:cNvPr id="191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Localized Rajasthan District-Level Fraud Analytics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Interactive TopoJSON visualization mapping mule account syndicates across Rajasthan administrative districts</a:t>
            </a:r>
          </a:p>
        </p:txBody>
      </p:sp>
      <p:sp>
        <p:nvSpPr>
          <p:cNvPr id="192" name="Rounded Rectangle 4"/>
          <p:cNvSpPr/>
          <p:nvPr/>
        </p:nvSpPr>
        <p:spPr>
          <a:xfrm>
            <a:off x="731519" y="1691639"/>
            <a:ext cx="493776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TextBox 6"/>
          <p:cNvSpPr txBox="1"/>
          <p:nvPr/>
        </p:nvSpPr>
        <p:spPr>
          <a:xfrm>
            <a:off x="950976" y="1874520"/>
            <a:ext cx="4498848" cy="28647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4F46E5"/>
                </a:solidFill>
              </a:defRPr>
            </a:pPr>
            <a:r>
              <a:t>GEOSPATIAL THREAT MAPPING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Hyper-Local Regional Telemetry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High-Fidelity Vector TopoJSON: </a:t>
            </a:r>
            <a:r>
              <a:rPr b="0" sz="1100">
                <a:solidFill>
                  <a:srgbClr val="334155"/>
                </a:solidFill>
              </a:rPr>
              <a:t>Custom-crafted SVG district boundaries with clean, gapless polygon borders, eliminating geographic rendering distortion.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Real-World Hotspot Correlation: </a:t>
            </a:r>
            <a:r>
              <a:rPr b="0" sz="1100">
                <a:solidFill>
                  <a:srgbClr val="334155"/>
                </a:solidFill>
              </a:rPr>
              <a:t>Reflects real ground intelligence across known financial cybercrime hotspots including Jaipur, Bharatpur, Alwar, and Mewat border zones.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Dynamic Hover &amp; Click Data Binding: </a:t>
            </a:r>
            <a:r>
              <a:rPr b="0" sz="1100">
                <a:solidFill>
                  <a:srgbClr val="334155"/>
                </a:solidFill>
              </a:rPr>
              <a:t>Interactive UI binds to live district metrics, displaying active cases, suspected mule accounts, flagged volume, and resolution rates.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Tactical Law Enforcement Deployment: </a:t>
            </a:r>
            <a:r>
              <a:rPr b="0" sz="1100">
                <a:solidFill>
                  <a:srgbClr val="334155"/>
                </a:solidFill>
              </a:rPr>
              <a:t>Enables State Cyber Police Headquarters to allocate investigative resources directly to emerging fraud epicenters.</a:t>
            </a:r>
          </a:p>
        </p:txBody>
      </p:sp>
      <p:sp>
        <p:nvSpPr>
          <p:cNvPr id="194" name="Rounded Rectangle 7"/>
          <p:cNvSpPr/>
          <p:nvPr/>
        </p:nvSpPr>
        <p:spPr>
          <a:xfrm>
            <a:off x="5852159" y="1691639"/>
            <a:ext cx="5608016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95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61888" y="1801367"/>
            <a:ext cx="5388560" cy="3913633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TextBox 9"/>
          <p:cNvSpPr txBox="1"/>
          <p:nvPr/>
        </p:nvSpPr>
        <p:spPr>
          <a:xfrm>
            <a:off x="5961888" y="5788152"/>
            <a:ext cx="538856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📷 </a:t>
            </a:r>
            <a:r>
              <a:t>Figure 4: Rajasthan District-Level Fraud TopoJSON Intelligence Map</a:t>
            </a:r>
          </a:p>
        </p:txBody>
      </p:sp>
      <p:sp>
        <p:nvSpPr>
          <p:cNvPr id="197" name="TextBox 10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7 of 10</a:t>
            </a:r>
          </a:p>
        </p:txBody>
      </p:sp>
      <p:sp>
        <p:nvSpPr>
          <p:cNvPr id="198" name="TextBox 11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3" name="Rounded Rectangle 2"/>
          <p:cNvGrpSpPr/>
          <p:nvPr/>
        </p:nvGrpSpPr>
        <p:grpSpPr>
          <a:xfrm>
            <a:off x="2674289" y="151510"/>
            <a:ext cx="5936902" cy="415584"/>
            <a:chOff x="0" y="0"/>
            <a:chExt cx="5936900" cy="415583"/>
          </a:xfrm>
        </p:grpSpPr>
        <p:sp>
          <p:nvSpPr>
            <p:cNvPr id="201" name="Rounded Rectangle"/>
            <p:cNvSpPr/>
            <p:nvPr/>
          </p:nvSpPr>
          <p:spPr>
            <a:xfrm>
              <a:off x="0" y="0"/>
              <a:ext cx="5936901" cy="415584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202" name="CORE CAPABILITY 4 · LAW ENFORCEMENT INTERDICTION"/>
            <p:cNvSpPr txBox="1"/>
            <p:nvPr/>
          </p:nvSpPr>
          <p:spPr>
            <a:xfrm>
              <a:off x="30181" y="125334"/>
              <a:ext cx="5876538" cy="16491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algn="ctr">
                <a:defRPr b="1" sz="1100">
                  <a:solidFill>
                    <a:srgbClr val="4F46E5"/>
                  </a:solidFill>
                </a:defRPr>
              </a:lvl1pPr>
            </a:lstStyle>
            <a:p>
              <a:pPr/>
              <a:r>
                <a:t>  CORE CAPABILITY 4 · LAW ENFORCEMENT INTERDICTION  </a:t>
              </a:r>
            </a:p>
          </p:txBody>
        </p:sp>
      </p:grpSp>
      <p:sp>
        <p:nvSpPr>
          <p:cNvPr id="204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Cyber Cell Dispatch &amp; Tamper-Proof Evidence Dossier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Bridging the critical gap between automated intelligence and judicial action with 1-click police exports</a:t>
            </a:r>
          </a:p>
        </p:txBody>
      </p:sp>
      <p:sp>
        <p:nvSpPr>
          <p:cNvPr id="205" name="Rounded Rectangle 4"/>
          <p:cNvSpPr/>
          <p:nvPr/>
        </p:nvSpPr>
        <p:spPr>
          <a:xfrm>
            <a:off x="731519" y="1691639"/>
            <a:ext cx="493776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TextBox 6"/>
          <p:cNvSpPr txBox="1"/>
          <p:nvPr/>
        </p:nvSpPr>
        <p:spPr>
          <a:xfrm>
            <a:off x="964983" y="2079166"/>
            <a:ext cx="4498849" cy="269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10B981"/>
                </a:solidFill>
              </a:defRPr>
            </a:pPr>
            <a:r>
              <a:t>JUDICIAL &amp; BANKING INTERDICTION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Operational Enforcement Pipeline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Dedicated Nodal Dispatch Queue: </a:t>
            </a:r>
            <a:r>
              <a:rPr b="0" sz="1100">
                <a:solidFill>
                  <a:srgbClr val="334155"/>
                </a:solidFill>
              </a:rPr>
              <a:t>Confirmed fraud cases move automatically from general investigation into a dedicated 'Cyber Cell Dispatch' operational queue.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Automated Evidence Dossier (PDF): </a:t>
            </a:r>
            <a:r>
              <a:rPr b="0" sz="1100">
                <a:solidFill>
                  <a:srgbClr val="334155"/>
                </a:solidFill>
              </a:rPr>
              <a:t>Generates standardized judicial evidence dossiers featuring post URLs, origin IP addresses, actor handles, and device user-agents.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Cryptographic SHA-256 Proof: </a:t>
            </a:r>
            <a:r>
              <a:rPr b="0" sz="1100">
                <a:solidFill>
                  <a:srgbClr val="334155"/>
                </a:solidFill>
              </a:rPr>
              <a:t>Every generated report seals raw evidence with SHA-256 checksums to satisfy Section 65B Indian Evidence Act standards.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1-Click Simulated Dispatches: </a:t>
            </a:r>
            <a:r>
              <a:rPr b="0" sz="1100">
                <a:solidFill>
                  <a:srgbClr val="334155"/>
                </a:solidFill>
              </a:rPr>
              <a:t>Direct webhook dispatches to the National Cyber Crime Reporting Portal (I4C) and automated bank account lien freeze notices.</a:t>
            </a:r>
          </a:p>
        </p:txBody>
      </p:sp>
      <p:sp>
        <p:nvSpPr>
          <p:cNvPr id="207" name="Rounded Rectangle 7"/>
          <p:cNvSpPr/>
          <p:nvPr/>
        </p:nvSpPr>
        <p:spPr>
          <a:xfrm>
            <a:off x="5852159" y="1691639"/>
            <a:ext cx="5608016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08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61888" y="1801367"/>
            <a:ext cx="5388560" cy="3913633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TextBox 9"/>
          <p:cNvSpPr txBox="1"/>
          <p:nvPr/>
        </p:nvSpPr>
        <p:spPr>
          <a:xfrm>
            <a:off x="5961888" y="5788152"/>
            <a:ext cx="538856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📷 </a:t>
            </a:r>
            <a:r>
              <a:t>Figure 5: Forensic Evidence Report with SHA-256 Cryptographic Hash</a:t>
            </a:r>
          </a:p>
        </p:txBody>
      </p:sp>
      <p:sp>
        <p:nvSpPr>
          <p:cNvPr id="210" name="TextBox 10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8 of 10</a:t>
            </a:r>
          </a:p>
        </p:txBody>
      </p:sp>
      <p:sp>
        <p:nvSpPr>
          <p:cNvPr id="211" name="TextBox 11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8FA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Rounded Rectangle 2"/>
          <p:cNvGrpSpPr/>
          <p:nvPr/>
        </p:nvGrpSpPr>
        <p:grpSpPr>
          <a:xfrm>
            <a:off x="2789918" y="67567"/>
            <a:ext cx="5906481" cy="413454"/>
            <a:chOff x="0" y="0"/>
            <a:chExt cx="5906480" cy="413453"/>
          </a:xfrm>
        </p:grpSpPr>
        <p:sp>
          <p:nvSpPr>
            <p:cNvPr id="214" name="Rounded Rectangle"/>
            <p:cNvSpPr/>
            <p:nvPr/>
          </p:nvSpPr>
          <p:spPr>
            <a:xfrm>
              <a:off x="0" y="0"/>
              <a:ext cx="5906481" cy="413454"/>
            </a:xfrm>
            <a:prstGeom prst="roundRect">
              <a:avLst>
                <a:gd name="adj" fmla="val 16667"/>
              </a:avLst>
            </a:prstGeom>
            <a:solidFill>
              <a:srgbClr val="EEF2FF"/>
            </a:solidFill>
            <a:ln w="15240" cap="flat">
              <a:solidFill>
                <a:srgbClr val="4F46E5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4F46E5"/>
                  </a:solidFill>
                </a:defRPr>
              </a:pPr>
            </a:p>
          </p:txBody>
        </p:sp>
        <p:sp>
          <p:nvSpPr>
            <p:cNvPr id="215" name="IMPACT &amp; FORENSIC SYNERGY · OPERATIONAL METRICS"/>
            <p:cNvSpPr txBox="1"/>
            <p:nvPr/>
          </p:nvSpPr>
          <p:spPr>
            <a:xfrm>
              <a:off x="30027" y="124692"/>
              <a:ext cx="5846427" cy="16407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algn="ctr">
                <a:defRPr b="1" sz="1100">
                  <a:solidFill>
                    <a:srgbClr val="4F46E5"/>
                  </a:solidFill>
                </a:defRPr>
              </a:lvl1pPr>
            </a:lstStyle>
            <a:p>
              <a:pPr/>
              <a:r>
                <a:t>  IMPACT &amp; FORENSIC SYNERGY · OPERATIONAL METRICS  </a:t>
              </a:r>
            </a:p>
          </p:txBody>
        </p:sp>
      </p:grpSp>
      <p:sp>
        <p:nvSpPr>
          <p:cNvPr id="217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0F172A"/>
                </a:solidFill>
              </a:defRPr>
            </a:pPr>
            <a:r>
              <a:t>Measurable Impact &amp; Syndicate Network Linkage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</a:defRPr>
            </a:pPr>
            <a:r>
              <a:t>Uncovering complex multi-actor mule syndicates through automated entity relationship graphs</a:t>
            </a:r>
          </a:p>
        </p:txBody>
      </p:sp>
      <p:sp>
        <p:nvSpPr>
          <p:cNvPr id="218" name="Rounded Rectangle 4"/>
          <p:cNvSpPr/>
          <p:nvPr/>
        </p:nvSpPr>
        <p:spPr>
          <a:xfrm>
            <a:off x="731519" y="1691639"/>
            <a:ext cx="4937761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TextBox 6"/>
          <p:cNvSpPr txBox="1"/>
          <p:nvPr/>
        </p:nvSpPr>
        <p:spPr>
          <a:xfrm>
            <a:off x="936968" y="2161716"/>
            <a:ext cx="4526864" cy="2534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4F46E5"/>
                </a:solidFill>
              </a:defRPr>
            </a:pPr>
            <a:r>
              <a:t>HIGH-IMPACT OUTCOMES</a:t>
            </a:r>
          </a:p>
          <a:p>
            <a:pPr>
              <a:spcBef>
                <a:spcPts val="800"/>
              </a:spcBef>
              <a:defRPr b="1" sz="1600">
                <a:solidFill>
                  <a:srgbClr val="0F172A"/>
                </a:solidFill>
              </a:defRPr>
            </a:pPr>
            <a:r>
              <a:t>Quantifiable Operational Advantage</a:t>
            </a: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&gt;85% Reduction in Triage Time: </a:t>
            </a:r>
            <a:r>
              <a:rPr b="0" sz="1100">
                <a:solidFill>
                  <a:srgbClr val="334155"/>
                </a:solidFill>
              </a:rPr>
              <a:t>Reduces incident verification timelines from 48-72 hours of manual searching to under 3 minutes per flagged advertisement.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Mule Syndicate Linkage Graph: </a:t>
            </a:r>
            <a:r>
              <a:rPr b="0" sz="1100">
                <a:solidFill>
                  <a:srgbClr val="334155"/>
                </a:solidFill>
              </a:rPr>
              <a:t>Force-directed visual graph uncovers shared UPI handles, phone numbers, and Telegram channels linking disparate mule accounts.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Digital Chain of Custody: </a:t>
            </a:r>
            <a:r>
              <a:rPr b="0" sz="1100">
                <a:solidFill>
                  <a:srgbClr val="334155"/>
                </a:solidFill>
              </a:rPr>
              <a:t>Immutable digital audit trail records timestamps, examiner actions, and state transitions for courtroom presentation.</a:t>
            </a:r>
            <a:endParaRPr b="0" sz="1100">
              <a:solidFill>
                <a:srgbClr val="334155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0F172A"/>
                </a:solidFill>
              </a:defRPr>
            </a:pPr>
            <a:r>
              <a:t>•  Proactive Threat Neutralization: </a:t>
            </a:r>
            <a:r>
              <a:rPr b="0" sz="1100">
                <a:solidFill>
                  <a:srgbClr val="334155"/>
                </a:solidFill>
              </a:rPr>
              <a:t>Freezes mule bank accounts before dirty scam funds can be layered or cashed out at ATMs.</a:t>
            </a:r>
          </a:p>
        </p:txBody>
      </p:sp>
      <p:sp>
        <p:nvSpPr>
          <p:cNvPr id="220" name="Rounded Rectangle 7"/>
          <p:cNvSpPr/>
          <p:nvPr/>
        </p:nvSpPr>
        <p:spPr>
          <a:xfrm>
            <a:off x="5852159" y="1691639"/>
            <a:ext cx="5608016" cy="44805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AE1E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21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61888" y="1801367"/>
            <a:ext cx="5388560" cy="3913633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TextBox 9"/>
          <p:cNvSpPr txBox="1"/>
          <p:nvPr/>
        </p:nvSpPr>
        <p:spPr>
          <a:xfrm>
            <a:off x="5961888" y="5788152"/>
            <a:ext cx="538856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b="1" sz="1100">
                <a:solidFill>
                  <a:srgbClr val="4F46E5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📷 </a:t>
            </a:r>
            <a:r>
              <a:t>Figure 6: Mule Syndicate Linkage Graph &amp; Financial Entity Clustering</a:t>
            </a:r>
          </a:p>
        </p:txBody>
      </p:sp>
      <p:sp>
        <p:nvSpPr>
          <p:cNvPr id="223" name="TextBox 10"/>
          <p:cNvSpPr txBox="1"/>
          <p:nvPr/>
        </p:nvSpPr>
        <p:spPr>
          <a:xfrm>
            <a:off x="731519" y="6446520"/>
            <a:ext cx="49657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334155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9 of 10</a:t>
            </a:r>
          </a:p>
        </p:txBody>
      </p:sp>
      <p:sp>
        <p:nvSpPr>
          <p:cNvPr id="224" name="TextBox 11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4F46E5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B132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29" name="Rounded Rectangle 2"/>
          <p:cNvGrpSpPr/>
          <p:nvPr/>
        </p:nvGrpSpPr>
        <p:grpSpPr>
          <a:xfrm>
            <a:off x="2536983" y="151510"/>
            <a:ext cx="6756642" cy="472966"/>
            <a:chOff x="0" y="0"/>
            <a:chExt cx="6756641" cy="472964"/>
          </a:xfrm>
        </p:grpSpPr>
        <p:sp>
          <p:nvSpPr>
            <p:cNvPr id="227" name="Rounded Rectangle"/>
            <p:cNvSpPr/>
            <p:nvPr/>
          </p:nvSpPr>
          <p:spPr>
            <a:xfrm>
              <a:off x="0" y="0"/>
              <a:ext cx="6756642" cy="472965"/>
            </a:xfrm>
            <a:prstGeom prst="roundRect">
              <a:avLst>
                <a:gd name="adj" fmla="val 16667"/>
              </a:avLst>
            </a:prstGeom>
            <a:solidFill>
              <a:srgbClr val="141E37"/>
            </a:solidFill>
            <a:ln w="15240" cap="flat">
              <a:solidFill>
                <a:srgbClr val="6366F1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900">
                  <a:solidFill>
                    <a:srgbClr val="0EA5E9"/>
                  </a:solidFill>
                </a:defRPr>
              </a:pPr>
            </a:p>
          </p:txBody>
        </p:sp>
        <p:sp>
          <p:nvSpPr>
            <p:cNvPr id="228" name="MISSION SUMMARY · FUTURE HORIZONS"/>
            <p:cNvSpPr txBox="1"/>
            <p:nvPr/>
          </p:nvSpPr>
          <p:spPr>
            <a:xfrm>
              <a:off x="34349" y="142640"/>
              <a:ext cx="6687943" cy="1876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900">
                  <a:solidFill>
                    <a:srgbClr val="0EA5E9"/>
                  </a:solidFill>
                </a:defRPr>
              </a:pPr>
              <a:r>
                <a:t>  </a:t>
              </a:r>
              <a:r>
                <a:rPr sz="1100"/>
                <a:t>MISSION SUMMARY · FUTURE HORIZONS  </a:t>
              </a:r>
            </a:p>
          </p:txBody>
        </p:sp>
      </p:grpSp>
      <p:sp>
        <p:nvSpPr>
          <p:cNvPr id="230" name="TextBox 3"/>
          <p:cNvSpPr txBox="1"/>
          <p:nvPr/>
        </p:nvSpPr>
        <p:spPr>
          <a:xfrm>
            <a:off x="731519" y="713231"/>
            <a:ext cx="10728657" cy="598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500">
                <a:solidFill>
                  <a:srgbClr val="FFFFFF"/>
                </a:solidFill>
              </a:defRPr>
            </a:pPr>
            <a:r>
              <a:t>Securing the Digital Financial Ecosystem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</a:defRPr>
            </a:pPr>
            <a:r>
              <a:t>MuleWatch delivers an operational, end-to-end defense system against organized financial cybercrime</a:t>
            </a:r>
          </a:p>
        </p:txBody>
      </p:sp>
      <p:sp>
        <p:nvSpPr>
          <p:cNvPr id="231" name="Rounded Rectangle 4"/>
          <p:cNvSpPr/>
          <p:nvPr/>
        </p:nvSpPr>
        <p:spPr>
          <a:xfrm>
            <a:off x="731519" y="1691639"/>
            <a:ext cx="3429001" cy="3383281"/>
          </a:xfrm>
          <a:prstGeom prst="roundRect">
            <a:avLst>
              <a:gd name="adj" fmla="val 16667"/>
            </a:avLst>
          </a:prstGeom>
          <a:solidFill>
            <a:srgbClr val="141E37"/>
          </a:solidFill>
          <a:ln w="15240">
            <a:solidFill>
              <a:srgbClr val="2E44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" name="TextBox 6"/>
          <p:cNvSpPr txBox="1"/>
          <p:nvPr/>
        </p:nvSpPr>
        <p:spPr>
          <a:xfrm>
            <a:off x="950975" y="1874520"/>
            <a:ext cx="2990089" cy="269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10B981"/>
                </a:solidFill>
              </a:defRPr>
            </a:pPr>
            <a:r>
              <a:t>HACKATHON EXECUTION</a:t>
            </a:r>
          </a:p>
          <a:p>
            <a:pPr>
              <a:spcBef>
                <a:spcPts val="800"/>
              </a:spcBef>
              <a:defRPr b="1" sz="1600">
                <a:solidFill>
                  <a:srgbClr val="FFFFFF"/>
                </a:solidFill>
              </a:defRPr>
            </a:pPr>
            <a:r>
              <a:t>Delivered Milestones</a:t>
            </a: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Production Fullstack Engine: </a:t>
            </a:r>
            <a:r>
              <a:rPr b="0" sz="1100">
                <a:solidFill>
                  <a:srgbClr val="E2E8F0"/>
                </a:solidFill>
              </a:rPr>
              <a:t>FastAPI + React 18 with persistent SQLite WAL database and live telemetry.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Multimodal AI Pipeline: </a:t>
            </a:r>
            <a:r>
              <a:rPr b="0" sz="1100">
                <a:solidFill>
                  <a:srgbClr val="E2E8F0"/>
                </a:solidFill>
              </a:rPr>
              <a:t>Automated OCR extraction, QR decoding, and NLP heuristic threat scoring.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Rajasthan District Map: </a:t>
            </a:r>
            <a:r>
              <a:rPr b="0" sz="1100">
                <a:solidFill>
                  <a:srgbClr val="E2E8F0"/>
                </a:solidFill>
              </a:rPr>
              <a:t>Gapless TopoJSON SVG vector map bound to localized district metrics.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Cyber Cell Dispatch Queue: </a:t>
            </a:r>
            <a:r>
              <a:rPr b="0" sz="1100">
                <a:solidFill>
                  <a:srgbClr val="E2E8F0"/>
                </a:solidFill>
              </a:rPr>
              <a:t>1-click I4C dispatch, bank lien notices, and SHA-256 PDF dossiers.</a:t>
            </a:r>
          </a:p>
        </p:txBody>
      </p:sp>
      <p:sp>
        <p:nvSpPr>
          <p:cNvPr id="233" name="Rounded Rectangle 7"/>
          <p:cNvSpPr/>
          <p:nvPr/>
        </p:nvSpPr>
        <p:spPr>
          <a:xfrm>
            <a:off x="4370832" y="1691639"/>
            <a:ext cx="3429001" cy="3383281"/>
          </a:xfrm>
          <a:prstGeom prst="roundRect">
            <a:avLst>
              <a:gd name="adj" fmla="val 16667"/>
            </a:avLst>
          </a:prstGeom>
          <a:solidFill>
            <a:srgbClr val="141E37"/>
          </a:solidFill>
          <a:ln w="15240">
            <a:solidFill>
              <a:srgbClr val="2E44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9"/>
          <p:cNvSpPr txBox="1"/>
          <p:nvPr/>
        </p:nvSpPr>
        <p:spPr>
          <a:xfrm>
            <a:off x="4590288" y="1874520"/>
            <a:ext cx="2990089" cy="28647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0EA5E9"/>
                </a:solidFill>
              </a:defRPr>
            </a:pPr>
            <a:r>
              <a:t>PRODUCTION SCALE</a:t>
            </a:r>
          </a:p>
          <a:p>
            <a:pPr>
              <a:spcBef>
                <a:spcPts val="800"/>
              </a:spcBef>
              <a:defRPr b="1" sz="1600">
                <a:solidFill>
                  <a:srgbClr val="FFFFFF"/>
                </a:solidFill>
              </a:defRPr>
            </a:pPr>
            <a:r>
              <a:t>Immediate Roadmap</a:t>
            </a: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WhatsApp &amp; Dark Web Crawlers: </a:t>
            </a:r>
            <a:r>
              <a:rPr b="0" sz="1100">
                <a:solidFill>
                  <a:srgbClr val="E2E8F0"/>
                </a:solidFill>
              </a:rPr>
              <a:t>Expanding autonomous crawlers to WhatsApp Business channels and Tor forums.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Direct NPCI / RBI API Hooks: </a:t>
            </a:r>
            <a:r>
              <a:rPr b="0" sz="1100">
                <a:solidFill>
                  <a:srgbClr val="E2E8F0"/>
                </a:solidFill>
              </a:rPr>
              <a:t>Real-time automated account freezing via official banking nodal gateways.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Indic LLM Dialect Fine-Tuning: </a:t>
            </a:r>
            <a:r>
              <a:rPr b="0" sz="1100">
                <a:solidFill>
                  <a:srgbClr val="E2E8F0"/>
                </a:solidFill>
              </a:rPr>
              <a:t>Specialized NLP models for regional Indian slang, Romanized Hindi, and evasive code-words.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Automated Sec 65B Certificates: </a:t>
            </a:r>
            <a:r>
              <a:rPr b="0" sz="1100">
                <a:solidFill>
                  <a:srgbClr val="E2E8F0"/>
                </a:solidFill>
              </a:rPr>
              <a:t>Automated digital signing and hash stamping for formal court filings.</a:t>
            </a:r>
          </a:p>
        </p:txBody>
      </p:sp>
      <p:sp>
        <p:nvSpPr>
          <p:cNvPr id="235" name="Rounded Rectangle 10"/>
          <p:cNvSpPr/>
          <p:nvPr/>
        </p:nvSpPr>
        <p:spPr>
          <a:xfrm>
            <a:off x="8028430" y="1691639"/>
            <a:ext cx="3429001" cy="3383281"/>
          </a:xfrm>
          <a:prstGeom prst="roundRect">
            <a:avLst>
              <a:gd name="adj" fmla="val 16667"/>
            </a:avLst>
          </a:prstGeom>
          <a:solidFill>
            <a:srgbClr val="141E37"/>
          </a:solidFill>
          <a:ln w="15240">
            <a:solidFill>
              <a:srgbClr val="2E446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" name="TextBox 12"/>
          <p:cNvSpPr txBox="1"/>
          <p:nvPr/>
        </p:nvSpPr>
        <p:spPr>
          <a:xfrm>
            <a:off x="8247887" y="1874520"/>
            <a:ext cx="2990089" cy="2534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200"/>
              </a:spcBef>
              <a:defRPr b="1" sz="1000">
                <a:solidFill>
                  <a:srgbClr val="6366F1"/>
                </a:solidFill>
              </a:defRPr>
            </a:pPr>
            <a:r>
              <a:t>OPEN SOURCE &amp; READY</a:t>
            </a:r>
          </a:p>
          <a:p>
            <a:pPr>
              <a:spcBef>
                <a:spcPts val="800"/>
              </a:spcBef>
              <a:defRPr b="1" sz="1600">
                <a:solidFill>
                  <a:srgbClr val="FFFFFF"/>
                </a:solidFill>
              </a:defRPr>
            </a:pPr>
            <a:r>
              <a:t>Team &amp; Repository</a:t>
            </a: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Team Capycoders: </a:t>
            </a:r>
            <a:r>
              <a:rPr b="0" sz="1100">
                <a:solidFill>
                  <a:srgbClr val="E2E8F0"/>
                </a:solidFill>
              </a:rPr>
              <a:t>Developers dedicated to building high-impact cyber defense and financial integrity tooling.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Host Institution: </a:t>
            </a:r>
            <a:r>
              <a:rPr b="0" sz="1100">
                <a:solidFill>
                  <a:srgbClr val="E2E8F0"/>
                </a:solidFill>
              </a:rPr>
              <a:t>SKIT Jaipur (Swami Keshvanand Institute of Technology)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Event Context: </a:t>
            </a:r>
            <a:r>
              <a:rPr b="0" sz="1100">
                <a:solidFill>
                  <a:srgbClr val="E2E8F0"/>
                </a:solidFill>
              </a:rPr>
              <a:t>IEEE Ignite Hackathon 2026 · Problem ID: SKIT002</a:t>
            </a:r>
            <a:endParaRPr b="0" sz="1100">
              <a:solidFill>
                <a:srgbClr val="E2E8F0"/>
              </a:solidFill>
            </a:endParaRPr>
          </a:p>
          <a:p>
            <a:pPr>
              <a:spcBef>
                <a:spcPts val="700"/>
              </a:spcBef>
              <a:defRPr b="1" sz="1200">
                <a:solidFill>
                  <a:srgbClr val="FFFFFF"/>
                </a:solidFill>
              </a:defRPr>
            </a:pPr>
            <a:r>
              <a:t>•  GitHub Repository: </a:t>
            </a:r>
            <a:r>
              <a:rPr b="0" sz="1100">
                <a:solidFill>
                  <a:srgbClr val="E2E8F0"/>
                </a:solidFill>
              </a:rPr>
              <a:t>github.com/Sunil-saini1818/MuleWatch (Public, active commit history)</a:t>
            </a:r>
          </a:p>
        </p:txBody>
      </p:sp>
      <p:grpSp>
        <p:nvGrpSpPr>
          <p:cNvPr id="239" name="Rounded Rectangle 13"/>
          <p:cNvGrpSpPr/>
          <p:nvPr/>
        </p:nvGrpSpPr>
        <p:grpSpPr>
          <a:xfrm>
            <a:off x="731519" y="5257800"/>
            <a:ext cx="10728657" cy="960120"/>
            <a:chOff x="0" y="0"/>
            <a:chExt cx="10728655" cy="960119"/>
          </a:xfrm>
        </p:grpSpPr>
        <p:sp>
          <p:nvSpPr>
            <p:cNvPr id="237" name="Rounded Rectangle"/>
            <p:cNvSpPr/>
            <p:nvPr/>
          </p:nvSpPr>
          <p:spPr>
            <a:xfrm>
              <a:off x="0" y="0"/>
              <a:ext cx="10728656" cy="960120"/>
            </a:xfrm>
            <a:prstGeom prst="roundRect">
              <a:avLst>
                <a:gd name="adj" fmla="val 16667"/>
              </a:avLst>
            </a:prstGeom>
            <a:solidFill>
              <a:srgbClr val="141E37"/>
            </a:solidFill>
            <a:ln w="19050" cap="flat">
              <a:solidFill>
                <a:srgbClr val="0EA5E9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spcBef>
                  <a:spcPts val="400"/>
                </a:spcBef>
                <a:defRPr sz="1200">
                  <a:solidFill>
                    <a:srgbClr val="E2E8F0"/>
                  </a:solidFill>
                </a:defRPr>
              </a:pPr>
            </a:p>
          </p:txBody>
        </p:sp>
        <p:sp>
          <p:nvSpPr>
            <p:cNvPr id="238" name="THANK YOU  ·  READY FOR LIVE DEMONSTRATION &amp; JUDGES' Q&amp;A…"/>
            <p:cNvSpPr txBox="1"/>
            <p:nvPr/>
          </p:nvSpPr>
          <p:spPr>
            <a:xfrm>
              <a:off x="284993" y="262943"/>
              <a:ext cx="10341549" cy="5531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600">
                  <a:solidFill>
                    <a:srgbClr val="FFFFFF"/>
                  </a:solidFill>
                </a:defRPr>
              </a:pPr>
              <a:r>
                <a:t>THANK YOU  ·  READY FOR LIVE DEMONSTRATION &amp; JUDGES' Q&amp;A</a:t>
              </a:r>
            </a:p>
            <a:p>
              <a:pPr algn="ctr">
                <a:spcBef>
                  <a:spcPts val="400"/>
                </a:spcBef>
                <a:defRPr sz="1200">
                  <a:solidFill>
                    <a:srgbClr val="E2E8F0"/>
                  </a:solidFill>
                </a:defRPr>
              </a:pPr>
              <a:r>
                <a:t>Explore the live system, test suspicious advertisements, and verify the end-to-end evidence generation pipeline.</a:t>
              </a:r>
            </a:p>
          </p:txBody>
        </p:sp>
      </p:grpSp>
      <p:sp>
        <p:nvSpPr>
          <p:cNvPr id="240" name="TextBox 14"/>
          <p:cNvSpPr txBox="1"/>
          <p:nvPr/>
        </p:nvSpPr>
        <p:spPr>
          <a:xfrm>
            <a:off x="731519" y="6446520"/>
            <a:ext cx="502370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/>
            <a:r>
              <a:t>IEEE Ignite Hackathon 2026  ·  Host: SKIT Jaipur  |  Team Capycoders  |  Problem ID: SKIT002  |  Slide 10 of 10</a:t>
            </a:r>
          </a:p>
        </p:txBody>
      </p:sp>
      <p:sp>
        <p:nvSpPr>
          <p:cNvPr id="241" name="TextBox 15"/>
          <p:cNvSpPr txBox="1"/>
          <p:nvPr/>
        </p:nvSpPr>
        <p:spPr>
          <a:xfrm>
            <a:off x="9543107" y="6446520"/>
            <a:ext cx="19170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r">
              <a:defRPr b="1" sz="900">
                <a:solidFill>
                  <a:srgbClr val="0EA5E9"/>
                </a:solidFill>
              </a:defRPr>
            </a:lvl1pPr>
          </a:lstStyle>
          <a:p>
            <a:pPr/>
            <a:r>
              <a:t>github.com/Sunil-saini1818/MuleWatch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