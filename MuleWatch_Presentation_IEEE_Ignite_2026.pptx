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5303520" cy="36576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⚡ IEEE IGNITE HACKATHON 2026  ·  HOST: SKIT JAIPUR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MuleWatch</a:t>
            </a:r>
          </a:p>
          <a:p>
            <a:pPr>
              <a:spcBef>
                <a:spcPts val="600"/>
              </a:spcBef>
              <a:defRPr sz="1800">
                <a:solidFill>
                  <a:srgbClr val="06B6D4"/>
                </a:solidFill>
              </a:defRPr>
            </a:pPr>
            <a:r>
              <a:t>AI-Powered Detection of Suspicious Financial Advertisements &amp; Cyber Cell Dispatch System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Autonomous threat intelligence harvesting, multimodal OCR/QR forensics, localized district risk mapping, and tamper-proof police evidence generation.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3383280" cy="1737360"/>
          </a:xfrm>
          <a:prstGeom prst="roundRect">
            <a:avLst/>
          </a:prstGeom>
          <a:solidFill>
            <a:srgbClr val="16213E"/>
          </a:solidFill>
          <a:ln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82880" bIns="182880"/>
          <a:lstStyle/>
          <a:p>
            <a:pPr algn="ctr">
              <a:defRPr sz="900" b="1">
                <a:solidFill>
                  <a:srgbClr val="06B6D4"/>
                </a:solidFill>
              </a:defRPr>
            </a:pPr>
            <a:r>
              <a:t>HACKATHON CHALLENGE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Problem ID: SKIT002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Theme: AI Detection of Suspicious Financial Ads &amp; Mule Syndicates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3291840"/>
            <a:ext cx="3383280" cy="1737360"/>
          </a:xfrm>
          <a:prstGeom prst="roundRect">
            <a:avLst/>
          </a:prstGeom>
          <a:solidFill>
            <a:srgbClr val="16213E"/>
          </a:solidFill>
          <a:ln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82880" bIns="182880"/>
          <a:lstStyle/>
          <a:p>
            <a:pPr algn="ctr">
              <a:defRPr sz="900" b="1">
                <a:solidFill>
                  <a:srgbClr val="6366F1"/>
                </a:solidFill>
              </a:defRPr>
            </a:pPr>
            <a:r>
              <a:t>DEVELOPMENT TEAM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Team: capycoders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Focus: Full-Stack AI, Computer Vision, Digital Forensics &amp; Cyber Defense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291840"/>
            <a:ext cx="3383280" cy="1737360"/>
          </a:xfrm>
          <a:prstGeom prst="roundRect">
            <a:avLst/>
          </a:prstGeom>
          <a:solidFill>
            <a:srgbClr val="16213E"/>
          </a:solidFill>
          <a:ln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82880" bIns="182880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HOST INSTITUTION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SKIT Jaipur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Swami Keshvanand Institute of Technology, Management &amp; Gramothan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728655" cy="6858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09728"/>
          <a:lstStyle/>
          <a:p>
            <a:pPr algn="ctr"/>
            <a:r>
              <a:rPr b="1" sz="1100">
                <a:solidFill>
                  <a:srgbClr val="06B6D4"/>
                </a:solidFill>
              </a:rPr>
              <a:t>PUBLIC GITHUB REPOSITORY: </a:t>
            </a:r>
            <a:r>
              <a:rPr sz="1100" b="1">
                <a:solidFill>
                  <a:srgbClr val="FFFFFF"/>
                </a:solidFill>
              </a:rPr>
              <a:t>https://github.com/Sunil-saini1818/MuleWatch  </a:t>
            </a:r>
            <a:r>
              <a:rPr sz="1000">
                <a:solidFill>
                  <a:srgbClr val="10B981"/>
                </a:solidFill>
              </a:rPr>
              <a:t>[Production-Ready Fullstack Codebase · Complete Commit History]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900">
                <a:solidFill>
                  <a:srgbClr val="94A3B8"/>
                </a:solidFill>
              </a:defRPr>
            </a:pPr>
            <a:r>
              <a:t>IEEE Ignite Hackathon 2026  ·  Host: SKIT Jaipur  |  Team Capycoders  |  Problem ID: SKIT002  |  Slide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46520"/>
            <a:ext cx="3687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06B6D4"/>
                </a:solidFill>
              </a:defRPr>
            </a:pPr>
            <a:r>
              <a:t>github.com/Sunil-saini1818/MuleWatch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3891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4F46E5"/>
                </a:solidFill>
              </a:defRPr>
            </a:pPr>
            <a:r>
              <a:t>PROBLEM ANALYSIS · THE THREAT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Silent Epidemic of Digital Mule Account Syndicates</a:t>
            </a:r>
          </a:p>
          <a:p>
            <a:pPr>
              <a:spcBef>
                <a:spcPts val="300"/>
              </a:spcBef>
              <a:defRPr sz="1150">
                <a:solidFill>
                  <a:srgbClr val="64748B"/>
                </a:solidFill>
              </a:defRPr>
            </a:pPr>
            <a:r>
              <a:t>How organized financial cybercriminals exploit open communication channels and outpace manual policing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120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7315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74520"/>
            <a:ext cx="4809744" cy="297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DC2626"/>
                </a:solidFill>
              </a:defRPr>
            </a:pPr>
            <a:r>
              <a:t>EMERGING THREAT VECTOR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The Underground Syndicate Model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Proliferation of Social Adverts: </a:t>
            </a:r>
            <a:r>
              <a:rPr sz="1000">
                <a:solidFill>
                  <a:srgbClr val="64748B"/>
                </a:solidFill>
              </a:rPr>
              <a:t>Fraud rings openly advertise on Telegram, WhatsApp, Facebook, and forums offering cash for 'unused' bank accounts and UPI IDs.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Commercialized Money Laundering: </a:t>
            </a:r>
            <a:r>
              <a:rPr sz="1000">
                <a:solidFill>
                  <a:srgbClr val="64748B"/>
                </a:solidFill>
              </a:rPr>
              <a:t>Accounts are leased at 5% to 15% commission or purchased outright to layer proceeds from investment, gaming, and loan scams.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Ultra-Rapid Churning &amp; Evasion: </a:t>
            </a:r>
            <a:r>
              <a:rPr sz="1000">
                <a:solidFill>
                  <a:srgbClr val="64748B"/>
                </a:solidFill>
              </a:rPr>
              <a:t>Syndicates discard channels, burn SIMs, and cycle UPI QR codes within hours of laundering dirty funds.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Vulnerable Demographics Target: </a:t>
            </a:r>
            <a:r>
              <a:rPr sz="1000">
                <a:solidFill>
                  <a:srgbClr val="64748B"/>
                </a:solidFill>
              </a:rPr>
              <a:t>Students and unemployed youths are enticed by 'easy work-from-home' earnings, unknowingly becoming criminal accomplices.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52120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874520"/>
            <a:ext cx="4809744" cy="297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4F46E5"/>
                </a:solidFill>
              </a:defRPr>
            </a:pPr>
            <a:r>
              <a:t>OPERATIONAL DEFICIENCY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Existing Law Enforcement Bottlenecks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Manual &amp; Fragmented Monitoring: </a:t>
            </a:r>
            <a:r>
              <a:rPr sz="1000">
                <a:solidFill>
                  <a:srgbClr val="64748B"/>
                </a:solidFill>
              </a:rPr>
              <a:t>Police personnel manually monitor social media—a reactive, unsustainable strategy facing millions of posts daily.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Multimodal Obfuscation: </a:t>
            </a:r>
            <a:r>
              <a:rPr sz="1000">
                <a:solidFill>
                  <a:srgbClr val="64748B"/>
                </a:solidFill>
              </a:rPr>
              <a:t>Fraudsters conceal UPI handles and bank details inside image banners and QR codes, completely evading keyword text filters.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48–72 Hour Critical Triage Lag: </a:t>
            </a:r>
            <a:r>
              <a:rPr sz="1000">
                <a:solidFill>
                  <a:srgbClr val="64748B"/>
                </a:solidFill>
              </a:rPr>
              <a:t>By the time a complaint is registered, mule accounts have dispersed funds across multiple layered banking layers.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Lack of Court-Admissible Evidence: </a:t>
            </a:r>
            <a:r>
              <a:rPr sz="1000">
                <a:solidFill>
                  <a:srgbClr val="64748B"/>
                </a:solidFill>
              </a:rPr>
              <a:t>Raw phone screenshots lack cryptographic timestamps, origin IP metadata, and tamper-proof SHA-256 digital hashes required for FIRs.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lIns="182880"/>
          <a:lstStyle/>
          <a:p>
            <a:pPr algn="ctr">
              <a:defRPr sz="950" b="1">
                <a:solidFill>
                  <a:srgbClr val="DC2626"/>
                </a:solidFill>
              </a:defRPr>
            </a:pPr>
            <a:r>
              <a:t>THE MULE ACCOUNT PIPELINE: HOW ORCHESTRATED CRIME DRAINS CITIZEN SAVINGS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1. Social Media Ad Recruiting Mules  ➔  2. KYC &amp; UPI Transfer via Telegram  ➔  3. Scammed Funds Injected  ➔  4. Instant ATM / Crypto Cashout (Zero Trace)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900">
                <a:solidFill>
                  <a:srgbClr val="64748B"/>
                </a:solidFill>
              </a:defRPr>
            </a:pPr>
            <a:r>
              <a:t>IEEE Ignite Hackathon 2026  ·  Host: SKIT Jaipur  |  Team Capycoders  |  Problem ID: SKIT002  |  Slide 2 of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46520"/>
            <a:ext cx="3687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4F46E5"/>
                </a:solidFill>
              </a:defRPr>
            </a:pPr>
            <a:r>
              <a:t>github.com/Sunil-saini1818/MuleWatch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3891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4F46E5"/>
                </a:solidFill>
              </a:defRPr>
            </a:pPr>
            <a:r>
              <a:t>SYSTEM SOLUTION · EXECUTIVE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MuleWatch: Autonomous Threat Intelligence to Cyber Interdiction</a:t>
            </a:r>
          </a:p>
          <a:p>
            <a:pPr>
              <a:spcBef>
                <a:spcPts val="300"/>
              </a:spcBef>
              <a:defRPr sz="1150">
                <a:solidFill>
                  <a:srgbClr val="64748B"/>
                </a:solidFill>
              </a:defRPr>
            </a:pPr>
            <a:r>
              <a:t>An integrated fullstack platform bridging continuous threat crawling, multimodal AI, and rapid cyber cell dispatch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846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84632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74520"/>
            <a:ext cx="4443984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4F46E5"/>
                </a:solidFill>
              </a:defRPr>
            </a:pPr>
            <a:r>
              <a:t>END-TO-END CYBER DEFENSE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Key Capabilities &amp; Architecture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Autonomous Multichannel Harvesting: </a:t>
            </a:r>
            <a:r>
              <a:rPr sz="1000">
                <a:solidFill>
                  <a:srgbClr val="64748B"/>
                </a:solidFill>
              </a:rPr>
              <a:t>Continuous background ingestion workers monitor Telegram underground groups, discussion forums (Charcha), and public social streams.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Multimodal Entity Extraction: </a:t>
            </a:r>
            <a:r>
              <a:rPr sz="1000">
                <a:solidFill>
                  <a:srgbClr val="64748B"/>
                </a:solidFill>
              </a:rPr>
              <a:t>Combines high-accuracy Tesseract OCR with OpenCV QR decoding to extract masked bank numbers, UPI handles, and payment links.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Dynamic Heuristic Risk Scoring: </a:t>
            </a:r>
            <a:r>
              <a:rPr sz="1000">
                <a:solidFill>
                  <a:srgbClr val="64748B"/>
                </a:solidFill>
              </a:rPr>
              <a:t>NLP threat categorization instantly scores posts (0-100%) against urgency triggers, commission bait, and illicit financial keywords.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Mule Syndicate Entity Linking: </a:t>
            </a:r>
            <a:r>
              <a:rPr sz="1000">
                <a:solidFill>
                  <a:srgbClr val="64748B"/>
                </a:solidFill>
              </a:rPr>
              <a:t>Resolves disparate posts into unified actor profiles, linking repeated UPI handles, phone numbers, and associated telegram aliases.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Cyber Cell Dispatch &amp; I4C Webhooks: </a:t>
            </a:r>
            <a:r>
              <a:rPr sz="1000">
                <a:solidFill>
                  <a:srgbClr val="64748B"/>
                </a:solidFill>
              </a:rPr>
              <a:t>1-click generation of court-admissible PDF dossiers with SHA-256 tamper-proof hashes and direct dispatch to bank nodal officers.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691640"/>
            <a:ext cx="5699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dia_1791983658833_1bf808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801368"/>
            <a:ext cx="5479999" cy="3941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0448" y="5815584"/>
            <a:ext cx="5479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📷 Figure 1: MuleWatch Real-Time Command Center &amp; Threat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900">
                <a:solidFill>
                  <a:srgbClr val="64748B"/>
                </a:solidFill>
              </a:defRPr>
            </a:pPr>
            <a:r>
              <a:t>IEEE Ignite Hackathon 2026  ·  Host: SKIT Jaipur  |  Team Capycoders  |  Problem ID: SKIT002  |  Slide 3 of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446520"/>
            <a:ext cx="3687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4F46E5"/>
                </a:solidFill>
              </a:defRPr>
            </a:pPr>
            <a:r>
              <a:t>github.com/Sunil-saini1818/MuleWatch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3891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4F46E5"/>
                </a:solidFill>
              </a:defRPr>
            </a:pPr>
            <a:r>
              <a:t>SYSTEM ARCHITECTURE ·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Production-Grade, Modular &amp; Resilient Fullstack Stack</a:t>
            </a:r>
          </a:p>
          <a:p>
            <a:pPr>
              <a:spcBef>
                <a:spcPts val="300"/>
              </a:spcBef>
              <a:defRPr sz="1150">
                <a:solidFill>
                  <a:srgbClr val="64748B"/>
                </a:solidFill>
              </a:defRPr>
            </a:pPr>
            <a:r>
              <a:t>Engineered for high-concurrency ingestion, asynchronous processing, and zero-compromise digital forensics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83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74520"/>
            <a:ext cx="2980944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4F46E5"/>
                </a:solidFill>
              </a:defRPr>
            </a:pPr>
            <a:r>
              <a:t>CLIENT PRESENTATION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Frontend Experience Layer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React 18 &amp; Vite: </a:t>
            </a:r>
            <a:r>
              <a:rPr sz="1000">
                <a:solidFill>
                  <a:srgbClr val="64748B"/>
                </a:solidFill>
              </a:rPr>
              <a:t>Lightning-fast reactive UI with hot module replacement and optimized production bundle.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Tailwind CSS &amp; Lucide Icons: </a:t>
            </a:r>
            <a:r>
              <a:rPr sz="1000">
                <a:solidFill>
                  <a:srgbClr val="64748B"/>
                </a:solidFill>
              </a:rPr>
              <a:t>Ergonomic, modern cyber operations center aesthetic with high-contrast data visualization.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Gapless TopoJSON Vector Map: </a:t>
            </a:r>
            <a:r>
              <a:rPr sz="1000">
                <a:solidFill>
                  <a:srgbClr val="64748B"/>
                </a:solidFill>
              </a:rPr>
              <a:t>Custom-rendered SVG district map of Rajasthan with zero-gap borders and hover state binding.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Dynamic Polling Telemetry: </a:t>
            </a:r>
            <a:r>
              <a:rPr sz="1000">
                <a:solidFill>
                  <a:srgbClr val="64748B"/>
                </a:solidFill>
              </a:rPr>
              <a:t>Self-healing telemetry hooks polling live crawler status, alert counts, and actor networks.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383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73152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874520"/>
            <a:ext cx="2980944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B132B"/>
                </a:solidFill>
              </a:defRPr>
            </a:pPr>
            <a:r>
              <a:t>MICROSERVICE ENGINE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Backend &amp; Intelligence Core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FastAPI &amp; Python 3.12: </a:t>
            </a:r>
            <a:r>
              <a:rPr sz="1000">
                <a:solidFill>
                  <a:srgbClr val="64748B"/>
                </a:solidFill>
              </a:rPr>
              <a:t>Asynchronous ASGI framework delivering ultra-low latency REST APIs and strict Pydantic models.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Computer Vision &amp; OCR: </a:t>
            </a:r>
            <a:r>
              <a:rPr sz="1000">
                <a:solidFill>
                  <a:srgbClr val="64748B"/>
                </a:solidFill>
              </a:rPr>
              <a:t>Tesseract OCR with adaptive image binarization; PyZBar for instant UPI QR payload decoding.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Telethon MTProto Client: </a:t>
            </a:r>
            <a:r>
              <a:rPr sz="1000">
                <a:solidFill>
                  <a:srgbClr val="64748B"/>
                </a:solidFill>
              </a:rPr>
              <a:t>Native Telegram API integration capable of real-time message stream harvesting.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SQLite WAL Database: </a:t>
            </a:r>
            <a:r>
              <a:rPr sz="1000">
                <a:solidFill>
                  <a:srgbClr val="64748B"/>
                </a:solidFill>
              </a:rPr>
              <a:t>High-performance Write-Ahead Logging mode providing ACID transactions without heavy database overhead.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413455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74520"/>
            <a:ext cx="3011119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0B981"/>
                </a:solidFill>
              </a:defRPr>
            </a:pPr>
            <a:r>
              <a:t>FORENSIC INTEGRITY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Forensics &amp; Police Interdiction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SHA-256 Evidence Seals: </a:t>
            </a:r>
            <a:r>
              <a:rPr sz="1000">
                <a:solidFill>
                  <a:srgbClr val="64748B"/>
                </a:solidFill>
              </a:rPr>
              <a:t>Cryptographic fingerprinting of raw ad screenshots and metadata to ensure Section 65B legal validity.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Automated PDF Dossiers: </a:t>
            </a:r>
            <a:r>
              <a:rPr sz="1000">
                <a:solidFill>
                  <a:srgbClr val="64748B"/>
                </a:solidFill>
              </a:rPr>
              <a:t>ReportLab PDF engine compiling investigator-ready case reports complete with IP and user-agent data.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Reversible State Machine: </a:t>
            </a:r>
            <a:r>
              <a:rPr sz="1000">
                <a:solidFill>
                  <a:srgbClr val="64748B"/>
                </a:solidFill>
              </a:rPr>
              <a:t>Enforcement safety guardrail allowing investigators to confirm fraud or revert false positives seamlessly.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Unified Launcher (`./run.sh`): </a:t>
            </a:r>
            <a:r>
              <a:rPr sz="1000">
                <a:solidFill>
                  <a:srgbClr val="64748B"/>
                </a:solidFill>
              </a:rPr>
              <a:t>One-click shell deployment bootstrapping backend, frontend, and simulated mock services concurrently.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900">
                <a:solidFill>
                  <a:srgbClr val="64748B"/>
                </a:solidFill>
              </a:defRPr>
            </a:pPr>
            <a:r>
              <a:t>IEEE Ignite Hackathon 2026  ·  Host: SKIT Jaipur  |  Team Capycoders  |  Problem ID: SKIT002  |  Slide 4 of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446520"/>
            <a:ext cx="3687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4F46E5"/>
                </a:solidFill>
              </a:defRPr>
            </a:pPr>
            <a:r>
              <a:t>github.com/Sunil-saini1818/MuleWatch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3891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4F46E5"/>
                </a:solidFill>
              </a:defRPr>
            </a:pPr>
            <a:r>
              <a:t>CORE CAPABILITY 1 · INTELLIGENCE HARVESTING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Autonomous Multi-Source Ingestion &amp; Crawler Telemetry</a:t>
            </a:r>
          </a:p>
          <a:p>
            <a:pPr>
              <a:spcBef>
                <a:spcPts val="300"/>
              </a:spcBef>
              <a:defRPr sz="1150">
                <a:solidFill>
                  <a:srgbClr val="64748B"/>
                </a:solidFill>
              </a:defRPr>
            </a:pPr>
            <a:r>
              <a:t>Proactively scanning underground Telegram channels, public discussion boards, and social threads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846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84632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74520"/>
            <a:ext cx="4443984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4F46E5"/>
                </a:solidFill>
              </a:defRPr>
            </a:pPr>
            <a:r>
              <a:t>DATA INGESTION PIPELINE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Automated Ingestion Infrastructure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Telethon MTProto Telegram Ingestion: </a:t>
            </a:r>
            <a:r>
              <a:rPr sz="1000">
                <a:solidFill>
                  <a:srgbClr val="64748B"/>
                </a:solidFill>
              </a:rPr>
              <a:t>Subscribes directly to suspect Telegram channels, capturing incoming messages, forwarded posts, and embedded image assets in real time.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Charcha Discussion Forum Scraper: </a:t>
            </a:r>
            <a:r>
              <a:rPr sz="1000">
                <a:solidFill>
                  <a:srgbClr val="64748B"/>
                </a:solidFill>
              </a:rPr>
              <a:t>Dedicated resilient crawler with dynamic pagination, thread tracking, and deduplication for local underground discussion boards.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SimHash &amp; LSH Deduplication: </a:t>
            </a:r>
            <a:r>
              <a:rPr sz="1000">
                <a:solidFill>
                  <a:srgbClr val="64748B"/>
                </a:solidFill>
              </a:rPr>
              <a:t>Locality-Sensitive Hashing identifies duplicate syndicated ads reposted across dozens of channels, consolidating threat records.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Live Crawler Health Telemetry: </a:t>
            </a:r>
            <a:r>
              <a:rPr sz="1000">
                <a:solidFill>
                  <a:srgbClr val="64748B"/>
                </a:solidFill>
              </a:rPr>
              <a:t>Real-time heartbeat monitoring tracks active endpoints, fetch latencies, and total harvested records with automatic retry policies.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Extensible Ingestion API: </a:t>
            </a:r>
            <a:r>
              <a:rPr sz="1000">
                <a:solidFill>
                  <a:srgbClr val="64748B"/>
                </a:solidFill>
              </a:rPr>
              <a:t>Standardized webhook receiver accepts external threat feeds from partner cybersecurity teams and public reporting portals.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691640"/>
            <a:ext cx="5699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dia_1792025167579_8b5562d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801368"/>
            <a:ext cx="5479999" cy="3941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0448" y="5815584"/>
            <a:ext cx="5479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📷 Figure 2: Multi-Platform Ingestion Telemetry &amp; Health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900">
                <a:solidFill>
                  <a:srgbClr val="64748B"/>
                </a:solidFill>
              </a:defRPr>
            </a:pPr>
            <a:r>
              <a:t>IEEE Ignite Hackathon 2026  ·  Host: SKIT Jaipur  |  Team Capycoders  |  Problem ID: SKIT002  |  Slide 5 of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446520"/>
            <a:ext cx="3687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4F46E5"/>
                </a:solidFill>
              </a:defRPr>
            </a:pPr>
            <a:r>
              <a:t>github.com/Sunil-saini1818/MuleWatch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3891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4F46E5"/>
                </a:solidFill>
              </a:defRPr>
            </a:pPr>
            <a:r>
              <a:t>CORE CAPABILITY 2 · MULTIMODAL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Multimodal OCR, QR Code Decoding &amp; Entity Extraction</a:t>
            </a:r>
          </a:p>
          <a:p>
            <a:pPr>
              <a:spcBef>
                <a:spcPts val="300"/>
              </a:spcBef>
              <a:defRPr sz="1150">
                <a:solidFill>
                  <a:srgbClr val="64748B"/>
                </a:solidFill>
              </a:defRPr>
            </a:pPr>
            <a:r>
              <a:t>Exposing financial identifiers deliberately disguised within images, posters, and payment barcodes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846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84632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74520"/>
            <a:ext cx="4443984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4F46E5"/>
                </a:solidFill>
              </a:defRPr>
            </a:pPr>
            <a:r>
              <a:t>MULTIMODAL INTELLIGENCE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Deep Visual Extraction Engine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Adaptive Image Pre-Processing: </a:t>
            </a:r>
            <a:r>
              <a:rPr sz="1000">
                <a:solidFill>
                  <a:srgbClr val="64748B"/>
                </a:solidFill>
              </a:rPr>
              <a:t>Applies contrast stretching, adaptive thresholding, and noise reduction to overcome obfuscated fonts and low-resolution screenshots.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Tesseract OCR Entity Parsing: </a:t>
            </a:r>
            <a:r>
              <a:rPr sz="1000">
                <a:solidFill>
                  <a:srgbClr val="64748B"/>
                </a:solidFill>
              </a:rPr>
              <a:t>Extracts masked bank names, IFSC codes, phone numbers, and commission percentages from graphic ad banners.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Instant UPI &amp; Crypto QR Decoding: </a:t>
            </a:r>
            <a:r>
              <a:rPr sz="1000">
                <a:solidFill>
                  <a:srgbClr val="64748B"/>
                </a:solidFill>
              </a:rPr>
              <a:t>OpenCV and PyZBar decoder extracts raw `upi://pay?pa=...` merchant strings and crypto wallet addresses directly from payment graphics.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NLP Risk Scoring Heuristics: </a:t>
            </a:r>
            <a:r>
              <a:rPr sz="1000">
                <a:solidFill>
                  <a:srgbClr val="64748B"/>
                </a:solidFill>
              </a:rPr>
              <a:t>Evaluates linguistic urgency indicators ('Immediate Need', 'Rent Bank Account', '10% Daily Commission') into weighted threat scores.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Interactive 'Check a Post' Hub: </a:t>
            </a:r>
            <a:r>
              <a:rPr sz="1000">
                <a:solidFill>
                  <a:srgbClr val="64748B"/>
                </a:solidFill>
              </a:rPr>
              <a:t>Allows investigators to test suspicious URLs, paste raw text, or upload image screenshots for instantaneous risk analysis.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691640"/>
            <a:ext cx="5699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dia_1791987346997_a18630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801368"/>
            <a:ext cx="5479999" cy="3941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0448" y="5815584"/>
            <a:ext cx="5479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📷 Figure 3: Interactive Multimodal Analyzer with QR &amp; Entity 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900">
                <a:solidFill>
                  <a:srgbClr val="64748B"/>
                </a:solidFill>
              </a:defRPr>
            </a:pPr>
            <a:r>
              <a:t>IEEE Ignite Hackathon 2026  ·  Host: SKIT Jaipur  |  Team Capycoders  |  Problem ID: SKIT002  |  Slide 6 of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446520"/>
            <a:ext cx="3687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4F46E5"/>
                </a:solidFill>
              </a:defRPr>
            </a:pPr>
            <a:r>
              <a:t>github.com/Sunil-saini1818/MuleWatch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3891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4F46E5"/>
                </a:solidFill>
              </a:defRPr>
            </a:pPr>
            <a:r>
              <a:t>CORE CAPABILITY 3 · GEOSPATIAL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Localized Rajasthan District-Level Fraud Analytics</a:t>
            </a:r>
          </a:p>
          <a:p>
            <a:pPr>
              <a:spcBef>
                <a:spcPts val="300"/>
              </a:spcBef>
              <a:defRPr sz="1150">
                <a:solidFill>
                  <a:srgbClr val="64748B"/>
                </a:solidFill>
              </a:defRPr>
            </a:pPr>
            <a:r>
              <a:t>Interactive TopoJSON visualization mapping mule account syndicates across Rajasthan administrative districts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846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84632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74520"/>
            <a:ext cx="4443984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4F46E5"/>
                </a:solidFill>
              </a:defRPr>
            </a:pPr>
            <a:r>
              <a:t>GEOSPATIAL THREAT MAPPING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Hyper-Local Regional Telemetry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High-Fidelity Vector TopoJSON: </a:t>
            </a:r>
            <a:r>
              <a:rPr sz="1000">
                <a:solidFill>
                  <a:srgbClr val="64748B"/>
                </a:solidFill>
              </a:rPr>
              <a:t>Custom-crafted SVG district boundaries with clean, gapless polygon borders, eliminating geographic rendering distortion.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Real-World Hotspot Correlation: </a:t>
            </a:r>
            <a:r>
              <a:rPr sz="1000">
                <a:solidFill>
                  <a:srgbClr val="64748B"/>
                </a:solidFill>
              </a:rPr>
              <a:t>Reflects real ground intelligence across known financial cybercrime hotspots including Jaipur, Bharatpur, Alwar, and Mewat border zones.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Dynamic Hover &amp; Click Data Binding: </a:t>
            </a:r>
            <a:r>
              <a:rPr sz="1000">
                <a:solidFill>
                  <a:srgbClr val="64748B"/>
                </a:solidFill>
              </a:rPr>
              <a:t>Interactive UI binds to live district metrics, displaying active cases, suspected mule accounts, flagged volume, and resolution rates.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Domain-Specific Analytics Table: </a:t>
            </a:r>
            <a:r>
              <a:rPr sz="1000">
                <a:solidFill>
                  <a:srgbClr val="64748B"/>
                </a:solidFill>
              </a:rPr>
              <a:t>Replaces generic loan metrics with actionable cyber metrics: 'Confirmed Mule Cases', 'Suspected Bank Accounts', and 'Lien Requests'.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Tactical Law Enforcement Deployment: </a:t>
            </a:r>
            <a:r>
              <a:rPr sz="1000">
                <a:solidFill>
                  <a:srgbClr val="64748B"/>
                </a:solidFill>
              </a:rPr>
              <a:t>Enables State Cyber Police Headquarters to allocate investigative resources directly to emerging fraud epicenters.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691640"/>
            <a:ext cx="5699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dia_1792001751224_82fa25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801368"/>
            <a:ext cx="5479999" cy="3941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0448" y="5815584"/>
            <a:ext cx="5479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📷 Figure 4: Rajasthan District-Level Fraud TopoJSON Intelligence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900">
                <a:solidFill>
                  <a:srgbClr val="64748B"/>
                </a:solidFill>
              </a:defRPr>
            </a:pPr>
            <a:r>
              <a:t>IEEE Ignite Hackathon 2026  ·  Host: SKIT Jaipur  |  Team Capycoders  |  Problem ID: SKIT002  |  Slide 7 of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446520"/>
            <a:ext cx="3687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4F46E5"/>
                </a:solidFill>
              </a:defRPr>
            </a:pPr>
            <a:r>
              <a:t>github.com/Sunil-saini1818/MuleWatch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3891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4F46E5"/>
                </a:solidFill>
              </a:defRPr>
            </a:pPr>
            <a:r>
              <a:t>CORE CAPABILITY 4 · LAW ENFORCEMENT INTERDICTION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Cyber Cell Dispatch &amp; Tamper-Proof Evidence Dossier</a:t>
            </a:r>
          </a:p>
          <a:p>
            <a:pPr>
              <a:spcBef>
                <a:spcPts val="300"/>
              </a:spcBef>
              <a:defRPr sz="1150">
                <a:solidFill>
                  <a:srgbClr val="64748B"/>
                </a:solidFill>
              </a:defRPr>
            </a:pPr>
            <a:r>
              <a:t>Bridging the critical gap between automated intelligence and judicial action with 1-click police exports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846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84632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74520"/>
            <a:ext cx="4443984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0B981"/>
                </a:solidFill>
              </a:defRPr>
            </a:pPr>
            <a:r>
              <a:t>JUDICIAL &amp; BANKING INTERDICTION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Operational Enforcement Pipeline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Dedicated Nodal Dispatch Queue: </a:t>
            </a:r>
            <a:r>
              <a:rPr sz="1000">
                <a:solidFill>
                  <a:srgbClr val="64748B"/>
                </a:solidFill>
              </a:rPr>
              <a:t>Confirmed fraud cases move automatically from general investigation into a dedicated 'Cyber Cell Dispatch' operational queue.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Automated Evidence Dossier (PDF): </a:t>
            </a:r>
            <a:r>
              <a:rPr sz="1000">
                <a:solidFill>
                  <a:srgbClr val="64748B"/>
                </a:solidFill>
              </a:rPr>
              <a:t>Generates standardized judicial evidence dossiers featuring post URLs, origin IP addresses, actor handles, and device user-agents.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Cryptographic SHA-256 Proof: </a:t>
            </a:r>
            <a:r>
              <a:rPr sz="1000">
                <a:solidFill>
                  <a:srgbClr val="64748B"/>
                </a:solidFill>
              </a:rPr>
              <a:t>Every generated report seals raw evidence with SHA-256 checksums to satisfy Section 65B Indian Evidence Act standards.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1-Click Simulated Dispatches: </a:t>
            </a:r>
            <a:r>
              <a:rPr sz="1000">
                <a:solidFill>
                  <a:srgbClr val="64748B"/>
                </a:solidFill>
              </a:rPr>
              <a:t>Direct webhook dispatches to the National Cyber Crime Reporting Portal (I4C) and automated bank account lien freeze notices.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Reversal Guardrails ('Revert to Draft'): </a:t>
            </a:r>
            <a:r>
              <a:rPr sz="1000">
                <a:solidFill>
                  <a:srgbClr val="64748B"/>
                </a:solidFill>
              </a:rPr>
              <a:t>Built-in safety state machine allows officers to instantly reverse accidental confirmations with zero audit trail corruption.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691640"/>
            <a:ext cx="5699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dia_1792025180232_bf60218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801368"/>
            <a:ext cx="5479999" cy="3941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0448" y="5815584"/>
            <a:ext cx="5479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📷 Figure 5: Forensic Evidence Report with SHA-256 Cryptographic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900">
                <a:solidFill>
                  <a:srgbClr val="64748B"/>
                </a:solidFill>
              </a:defRPr>
            </a:pPr>
            <a:r>
              <a:t>IEEE Ignite Hackathon 2026  ·  Host: SKIT Jaipur  |  Team Capycoders  |  Problem ID: SKIT002  |  Slide 8 of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446520"/>
            <a:ext cx="3687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4F46E5"/>
                </a:solidFill>
              </a:defRPr>
            </a:pPr>
            <a:r>
              <a:t>github.com/Sunil-saini1818/MuleWatch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3891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4F46E5"/>
                </a:solidFill>
              </a:defRPr>
            </a:pPr>
            <a:r>
              <a:t>IMPACT &amp; FORENSIC SYNERGY · OPERATIONAL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Measurable Impact &amp; Syndicate Network Linkage</a:t>
            </a:r>
          </a:p>
          <a:p>
            <a:pPr>
              <a:spcBef>
                <a:spcPts val="300"/>
              </a:spcBef>
              <a:defRPr sz="1150">
                <a:solidFill>
                  <a:srgbClr val="64748B"/>
                </a:solidFill>
              </a:defRPr>
            </a:pPr>
            <a:r>
              <a:t>Uncovering complex multi-actor mule syndicates through automated entity relationship graphs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846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84632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74520"/>
            <a:ext cx="4443984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4F46E5"/>
                </a:solidFill>
              </a:defRPr>
            </a:pPr>
            <a:r>
              <a:t>HIGH-IMPACT OUTCOMES</a:t>
            </a:r>
          </a:p>
          <a:p>
            <a:pPr>
              <a:spcAft>
                <a:spcPts val="700"/>
              </a:spcAft>
              <a:defRPr sz="1400" b="1">
                <a:solidFill>
                  <a:srgbClr val="0F172A"/>
                </a:solidFill>
              </a:defRPr>
            </a:pPr>
            <a:r>
              <a:t>Quantifiable Operational Advantage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&gt;85% Reduction in Triage Time: </a:t>
            </a:r>
            <a:r>
              <a:rPr sz="1000">
                <a:solidFill>
                  <a:srgbClr val="64748B"/>
                </a:solidFill>
              </a:rPr>
              <a:t>Reduces incident verification timelines from 48-72 hours of manual searching to under 3 minutes per flagged advertisement.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Mule Syndicate Linkage Graph: </a:t>
            </a:r>
            <a:r>
              <a:rPr sz="1000">
                <a:solidFill>
                  <a:srgbClr val="64748B"/>
                </a:solidFill>
              </a:rPr>
              <a:t>Force-directed visual graph uncovers shared UPI handles, phone numbers, and Telegram channels linking disparate mule accounts.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Digital Chain of Custody: </a:t>
            </a:r>
            <a:r>
              <a:rPr sz="1000">
                <a:solidFill>
                  <a:srgbClr val="64748B"/>
                </a:solidFill>
              </a:rPr>
              <a:t>Immutable digital audit trail records timestamps, examiner actions, and state transitions for courtroom presentation.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Inter-Agency Collaboration: </a:t>
            </a:r>
            <a:r>
              <a:rPr sz="1000">
                <a:solidFill>
                  <a:srgbClr val="64748B"/>
                </a:solidFill>
              </a:rPr>
              <a:t>Standardized JSON/PDF export formats allow seamless intelligence exchange between State Cyber Cells and Nodal Bank Officers.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172A"/>
                </a:solidFill>
              </a:rPr>
              <a:t>• Proactive Threat Neutralization: </a:t>
            </a:r>
            <a:r>
              <a:rPr sz="1000">
                <a:solidFill>
                  <a:srgbClr val="64748B"/>
                </a:solidFill>
              </a:rPr>
              <a:t>Freezes mule bank accounts before dirty scam funds can be layered or cashed out at ATMs.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691640"/>
            <a:ext cx="5699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dia_1792025186557_c3749f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801368"/>
            <a:ext cx="5479999" cy="3941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0448" y="5815584"/>
            <a:ext cx="5479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📷 Figure 6: Mule Syndicate Linkage Graph &amp; Financial Entity Clustering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900">
                <a:solidFill>
                  <a:srgbClr val="64748B"/>
                </a:solidFill>
              </a:defRPr>
            </a:pPr>
            <a:r>
              <a:t>IEEE Ignite Hackathon 2026  ·  Host: SKIT Jaipur  |  Team Capycoders  |  Problem ID: SKIT002  |  Slide 9 of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446520"/>
            <a:ext cx="3687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4F46E5"/>
                </a:solidFill>
              </a:defRPr>
            </a:pPr>
            <a:r>
              <a:t>github.com/Sunil-saini1818/MuleWatch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389120" cy="292608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06B6D4"/>
                </a:solidFill>
              </a:defRPr>
            </a:pPr>
            <a:r>
              <a:t>MISSION SUMMARY · FUTURE HORIZONS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Securing the Digital Financial Ecosystem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MuleWatch delivers an operational, end-to-end defense system against organized financial cybercrime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83280" cy="3383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74520"/>
            <a:ext cx="2980944" cy="3063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0B981"/>
                </a:solidFill>
              </a:defRPr>
            </a:pPr>
            <a:r>
              <a:t>HACKATHON EXECUTION</a:t>
            </a:r>
          </a:p>
          <a:p>
            <a:pPr>
              <a:spcAft>
                <a:spcPts val="700"/>
              </a:spcAft>
              <a:defRPr sz="1400" b="1">
                <a:solidFill>
                  <a:srgbClr val="F8FAFC"/>
                </a:solidFill>
              </a:defRPr>
            </a:pPr>
            <a:r>
              <a:t>Delivered Milestones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Production Fullstack Engine: </a:t>
            </a:r>
            <a:r>
              <a:rPr sz="1000">
                <a:solidFill>
                  <a:srgbClr val="94A3B8"/>
                </a:solidFill>
              </a:rPr>
              <a:t>FastAPI + React 18 with persistent SQLite WAL database and live telemetry.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Multimodal AI Pipeline: </a:t>
            </a:r>
            <a:r>
              <a:rPr sz="1000">
                <a:solidFill>
                  <a:srgbClr val="94A3B8"/>
                </a:solidFill>
              </a:rPr>
              <a:t>Automated OCR extraction, QR decoding, and NLP heuristic threat scoring.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Rajasthan District Map: </a:t>
            </a:r>
            <a:r>
              <a:rPr sz="1000">
                <a:solidFill>
                  <a:srgbClr val="94A3B8"/>
                </a:solidFill>
              </a:rPr>
              <a:t>Gapless TopoJSON SVG vector map bound to localized district metrics.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Cyber Cell Dispatch Queue: </a:t>
            </a:r>
            <a:r>
              <a:rPr sz="1000">
                <a:solidFill>
                  <a:srgbClr val="94A3B8"/>
                </a:solidFill>
              </a:rPr>
              <a:t>1-click I4C dispatch, bank lien notices, and SHA-256 PDF dossiers.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383280" cy="3383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7315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874520"/>
            <a:ext cx="2980944" cy="3063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6B6D4"/>
                </a:solidFill>
              </a:defRPr>
            </a:pPr>
            <a:r>
              <a:t>PRODUCTION SCALE</a:t>
            </a:r>
          </a:p>
          <a:p>
            <a:pPr>
              <a:spcAft>
                <a:spcPts val="700"/>
              </a:spcAft>
              <a:defRPr sz="1400" b="1">
                <a:solidFill>
                  <a:srgbClr val="F8FAFC"/>
                </a:solidFill>
              </a:defRPr>
            </a:pPr>
            <a:r>
              <a:t>Immediate Roadmap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WhatsApp &amp; Dark Web Crawlers: </a:t>
            </a:r>
            <a:r>
              <a:rPr sz="1000">
                <a:solidFill>
                  <a:srgbClr val="94A3B8"/>
                </a:solidFill>
              </a:rPr>
              <a:t>Expanding autonomous crawlers to WhatsApp Business channels and Tor forums.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Direct NPCI / RBI API Hooks: </a:t>
            </a:r>
            <a:r>
              <a:rPr sz="1000">
                <a:solidFill>
                  <a:srgbClr val="94A3B8"/>
                </a:solidFill>
              </a:rPr>
              <a:t>Real-time automated account freezing via official banking nodal gateways.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Indic LLM Dialect Fine-Tuning: </a:t>
            </a:r>
            <a:r>
              <a:rPr sz="1000">
                <a:solidFill>
                  <a:srgbClr val="94A3B8"/>
                </a:solidFill>
              </a:rPr>
              <a:t>Specialized NLP models for regional Indian slang, Romanized Hindi, and evasive code-words.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Automated Sec 65B Certificates: </a:t>
            </a:r>
            <a:r>
              <a:rPr sz="1000">
                <a:solidFill>
                  <a:srgbClr val="94A3B8"/>
                </a:solidFill>
              </a:rPr>
              <a:t>Automated digital signing and hash stamping for formal court filings.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3383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A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413455" cy="73152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74520"/>
            <a:ext cx="3011119" cy="3063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6366F1"/>
                </a:solidFill>
              </a:defRPr>
            </a:pPr>
            <a:r>
              <a:t>OPEN SOURCE &amp; READY</a:t>
            </a:r>
          </a:p>
          <a:p>
            <a:pPr>
              <a:spcAft>
                <a:spcPts val="700"/>
              </a:spcAft>
              <a:defRPr sz="1400" b="1">
                <a:solidFill>
                  <a:srgbClr val="F8FAFC"/>
                </a:solidFill>
              </a:defRPr>
            </a:pPr>
            <a:r>
              <a:t>Team &amp; Repository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Team Capycoders: </a:t>
            </a:r>
            <a:r>
              <a:rPr sz="1000">
                <a:solidFill>
                  <a:srgbClr val="94A3B8"/>
                </a:solidFill>
              </a:rPr>
              <a:t>Developers dedicated to building high-impact cyber defense and financial integrity tooling.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Host Institution: </a:t>
            </a:r>
            <a:r>
              <a:rPr sz="1000">
                <a:solidFill>
                  <a:srgbClr val="94A3B8"/>
                </a:solidFill>
              </a:rPr>
              <a:t>SKIT Jaipur (Swami Keshvanand Institute of Technology)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Event Context: </a:t>
            </a:r>
            <a:r>
              <a:rPr sz="1000">
                <a:solidFill>
                  <a:srgbClr val="94A3B8"/>
                </a:solidFill>
              </a:rPr>
              <a:t>IEEE Ignite Hackathon 2026 · Problem ID: SKIT002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F8FAFC"/>
                </a:solidFill>
              </a:rPr>
              <a:t>• GitHub Repository: </a:t>
            </a:r>
            <a:r>
              <a:rPr sz="1000">
                <a:solidFill>
                  <a:srgbClr val="94A3B8"/>
                </a:solidFill>
              </a:rPr>
              <a:t>github.com/Sunil-saini1818/MuleWatch (Public, active commit history)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10728655" cy="9601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27432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THANK YOU  ·  READY FOR LIVE DEMONSTRATION &amp; JUDGES' Q&amp;A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</a:defRPr>
            </a:pPr>
            <a:r>
              <a:t>Explore the live system, test suspicious advertisements, and verify the end-to-end evidence generation pipeline.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900">
                <a:solidFill>
                  <a:srgbClr val="94A3B8"/>
                </a:solidFill>
              </a:defRPr>
            </a:pPr>
            <a:r>
              <a:t>IEEE Ignite Hackathon 2026  ·  Host: SKIT Jaipur  |  Team Capycoders  |  Problem ID: SKIT002  |  Slide 10 of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46520"/>
            <a:ext cx="3687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06B6D4"/>
                </a:solidFill>
              </a:defRPr>
            </a:pPr>
            <a:r>
              <a:t>github.com/Sunil-saini1818/MuleWatch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